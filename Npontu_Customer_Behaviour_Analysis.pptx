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0333A"/>
                </a:solidFill>
                <a:latin typeface="Cambria"/>
              </a:defRPr>
            </a:pPr>
            <a:r>
              <a:rPr lang="en-US" sz="1300" b="0" i="0" u="none" strike="noStrike">
                <a:solidFill>
                  <a:srgbClr val="10333A"/>
                </a:solidFill>
                <a:latin typeface="Cambria"/>
              </a:rPr>
              <a:t>Cross-validated ROC-AUC</a:t>
            </a:r>
          </a:p>
        </c:rich>
      </c:tx>
      <c:overlay val="0"/>
    </c:title>
    <c:autoTitleDeleted val="0"/>
    <c:plotArea>
      <c:layout/>
      <c:barChart>
        <c:barDir val="col"/>
        <c:grouping val="clustered"/>
        <c:varyColors val="0"/>
        <c:ser>
          <c:idx val="0"/>
          <c:order val="0"/>
          <c:tx>
            <c:strRef>
              <c:f>Sheet1!$B$1</c:f>
              <c:strCache>
                <c:ptCount val="1"/>
                <c:pt idx="0">
                  <c:v>ROC-AUC</c:v>
                </c:pt>
              </c:strCache>
            </c:strRef>
          </c:tx>
          <c:spPr>
            <a:solidFill>
              <a:srgbClr val="9AA9AD"/>
            </a:solidFill>
            <a:effectLst/>
          </c:spPr>
          <c:invertIfNegative val="0"/>
          <c:dPt>
            <c:idx val="0"/>
            <c:invertIfNegative val="0"/>
            <c:bubble3D val="0"/>
            <c:spPr>
              <a:solidFill>
                <a:srgbClr val="9AA9AD"/>
              </a:solidFill>
              <a:effectLst/>
            </c:spPr>
            <c:extLst>
              <c:ext xmlns:c16="http://schemas.microsoft.com/office/drawing/2014/chart" uri="{C3380CC4-5D6E-409C-BE32-E72D297353CC}">
                <c16:uniqueId val="{00000001-FB30-4627-92AF-EEE11B80ED4B}"/>
              </c:ext>
            </c:extLst>
          </c:dPt>
          <c:dPt>
            <c:idx val="1"/>
            <c:invertIfNegative val="0"/>
            <c:bubble3D val="0"/>
            <c:spPr>
              <a:solidFill>
                <a:srgbClr val="00A896"/>
              </a:solidFill>
              <a:effectLst/>
            </c:spPr>
            <c:extLst>
              <c:ext xmlns:c16="http://schemas.microsoft.com/office/drawing/2014/chart" uri="{C3380CC4-5D6E-409C-BE32-E72D297353CC}">
                <c16:uniqueId val="{00000003-FB30-4627-92AF-EEE11B80ED4B}"/>
              </c:ext>
            </c:extLst>
          </c:dPt>
          <c:dPt>
            <c:idx val="2"/>
            <c:invertIfNegative val="0"/>
            <c:bubble3D val="0"/>
            <c:spPr>
              <a:solidFill>
                <a:srgbClr val="028090"/>
              </a:solidFill>
              <a:effectLst/>
            </c:spPr>
            <c:extLst>
              <c:ext xmlns:c16="http://schemas.microsoft.com/office/drawing/2014/chart" uri="{C3380CC4-5D6E-409C-BE32-E72D297353CC}">
                <c16:uniqueId val="{00000005-FB30-4627-92AF-EEE11B80ED4B}"/>
              </c:ext>
            </c:extLst>
          </c:dPt>
          <c:dLbls>
            <c:numFmt formatCode="0.000" sourceLinked="0"/>
            <c:spPr>
              <a:noFill/>
              <a:ln>
                <a:noFill/>
              </a:ln>
              <a:effectLst/>
            </c:spPr>
            <c:txPr>
              <a:bodyPr/>
              <a:lstStyle/>
              <a:p>
                <a:pPr>
                  <a:defRPr sz="1200" b="0" i="0" u="none" strike="noStrike">
                    <a:solidFill>
                      <a:srgbClr val="103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Dummy
(majority class)</c:v>
                </c:pt>
                <c:pt idx="1">
                  <c:v>Logistic
Regression</c:v>
                </c:pt>
                <c:pt idx="2">
                  <c:v>Random
Forest</c:v>
                </c:pt>
              </c:strCache>
            </c:strRef>
          </c:cat>
          <c:val>
            <c:numRef>
              <c:f>Sheet1!$B$2:$B$4</c:f>
              <c:numCache>
                <c:formatCode>General</c:formatCode>
                <c:ptCount val="3"/>
                <c:pt idx="0">
                  <c:v>0.5</c:v>
                </c:pt>
                <c:pt idx="1">
                  <c:v>0.84299999999999997</c:v>
                </c:pt>
                <c:pt idx="2">
                  <c:v>0.84399999999999997</c:v>
                </c:pt>
              </c:numCache>
            </c:numRef>
          </c:val>
          <c:extLst>
            <c:ext xmlns:c16="http://schemas.microsoft.com/office/drawing/2014/chart" uri="{C3380CC4-5D6E-409C-BE32-E72D297353CC}">
              <c16:uniqueId val="{00000006-FB30-4627-92AF-EEE11B80ED4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6670"/>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2EC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667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0333A"/>
                </a:solidFill>
                <a:latin typeface="Cambria"/>
              </a:defRPr>
            </a:pPr>
            <a:r>
              <a:rPr lang="en-US" sz="1300" b="0" i="0" u="none" strike="noStrike">
                <a:solidFill>
                  <a:srgbClr val="10333A"/>
                </a:solidFill>
                <a:latin typeface="Cambria"/>
              </a:rPr>
              <a:t>AUC when trained on that block alone</a:t>
            </a:r>
          </a:p>
        </c:rich>
      </c:tx>
      <c:overlay val="0"/>
    </c:title>
    <c:autoTitleDeleted val="0"/>
    <c:plotArea>
      <c:layout/>
      <c:barChart>
        <c:barDir val="bar"/>
        <c:grouping val="clustered"/>
        <c:varyColors val="0"/>
        <c:ser>
          <c:idx val="0"/>
          <c:order val="0"/>
          <c:tx>
            <c:strRef>
              <c:f>Sheet1!$B$1</c:f>
              <c:strCache>
                <c:ptCount val="1"/>
                <c:pt idx="0">
                  <c:v>ROC-AUC</c:v>
                </c:pt>
              </c:strCache>
            </c:strRef>
          </c:tx>
          <c:spPr>
            <a:solidFill>
              <a:srgbClr val="9AA9AD"/>
            </a:solidFill>
            <a:effectLst/>
          </c:spPr>
          <c:invertIfNegative val="0"/>
          <c:dPt>
            <c:idx val="0"/>
            <c:invertIfNegative val="0"/>
            <c:bubble3D val="0"/>
            <c:spPr>
              <a:solidFill>
                <a:srgbClr val="9AA9AD"/>
              </a:solidFill>
              <a:effectLst/>
            </c:spPr>
            <c:extLst>
              <c:ext xmlns:c16="http://schemas.microsoft.com/office/drawing/2014/chart" uri="{C3380CC4-5D6E-409C-BE32-E72D297353CC}">
                <c16:uniqueId val="{00000001-D423-43F0-8D9C-1CF2C2A739AC}"/>
              </c:ext>
            </c:extLst>
          </c:dPt>
          <c:dPt>
            <c:idx val="1"/>
            <c:invertIfNegative val="0"/>
            <c:bubble3D val="0"/>
            <c:spPr>
              <a:solidFill>
                <a:srgbClr val="9AA9AD"/>
              </a:solidFill>
              <a:effectLst/>
            </c:spPr>
            <c:extLst>
              <c:ext xmlns:c16="http://schemas.microsoft.com/office/drawing/2014/chart" uri="{C3380CC4-5D6E-409C-BE32-E72D297353CC}">
                <c16:uniqueId val="{00000003-D423-43F0-8D9C-1CF2C2A739AC}"/>
              </c:ext>
            </c:extLst>
          </c:dPt>
          <c:dPt>
            <c:idx val="2"/>
            <c:invertIfNegative val="0"/>
            <c:bubble3D val="0"/>
            <c:spPr>
              <a:solidFill>
                <a:srgbClr val="00A896"/>
              </a:solidFill>
              <a:effectLst/>
            </c:spPr>
            <c:extLst>
              <c:ext xmlns:c16="http://schemas.microsoft.com/office/drawing/2014/chart" uri="{C3380CC4-5D6E-409C-BE32-E72D297353CC}">
                <c16:uniqueId val="{00000005-D423-43F0-8D9C-1CF2C2A739AC}"/>
              </c:ext>
            </c:extLst>
          </c:dPt>
          <c:dPt>
            <c:idx val="3"/>
            <c:invertIfNegative val="0"/>
            <c:bubble3D val="0"/>
            <c:spPr>
              <a:solidFill>
                <a:srgbClr val="028090"/>
              </a:solidFill>
              <a:effectLst/>
            </c:spPr>
            <c:extLst>
              <c:ext xmlns:c16="http://schemas.microsoft.com/office/drawing/2014/chart" uri="{C3380CC4-5D6E-409C-BE32-E72D297353CC}">
                <c16:uniqueId val="{00000007-D423-43F0-8D9C-1CF2C2A739AC}"/>
              </c:ext>
            </c:extLst>
          </c:dPt>
          <c:dPt>
            <c:idx val="4"/>
            <c:invertIfNegative val="0"/>
            <c:bubble3D val="0"/>
            <c:spPr>
              <a:solidFill>
                <a:srgbClr val="02C39A"/>
              </a:solidFill>
              <a:effectLst/>
            </c:spPr>
            <c:extLst>
              <c:ext xmlns:c16="http://schemas.microsoft.com/office/drawing/2014/chart" uri="{C3380CC4-5D6E-409C-BE32-E72D297353CC}">
                <c16:uniqueId val="{00000009-D423-43F0-8D9C-1CF2C2A739AC}"/>
              </c:ext>
            </c:extLst>
          </c:dPt>
          <c:dLbls>
            <c:numFmt formatCode="0.000" sourceLinked="0"/>
            <c:spPr>
              <a:noFill/>
              <a:ln>
                <a:noFill/>
              </a:ln>
              <a:effectLst/>
            </c:spPr>
            <c:txPr>
              <a:bodyPr/>
              <a:lstStyle/>
              <a:p>
                <a:pPr>
                  <a:defRPr sz="1100" b="0" i="0" u="none" strike="noStrike">
                    <a:solidFill>
                      <a:srgbClr val="103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Demographics (11)</c:v>
                </c:pt>
                <c:pt idx="1">
                  <c:v>Reviews (4)</c:v>
                </c:pt>
                <c:pt idx="2">
                  <c:v>Purchase / RFM (52)</c:v>
                </c:pt>
                <c:pt idx="3">
                  <c:v>Behavioural (31)</c:v>
                </c:pt>
                <c:pt idx="4">
                  <c:v>All features (98)</c:v>
                </c:pt>
              </c:strCache>
            </c:strRef>
          </c:cat>
          <c:val>
            <c:numRef>
              <c:f>Sheet1!$B$2:$B$6</c:f>
              <c:numCache>
                <c:formatCode>General</c:formatCode>
                <c:ptCount val="5"/>
                <c:pt idx="0">
                  <c:v>0.59</c:v>
                </c:pt>
                <c:pt idx="1">
                  <c:v>0.60599999999999998</c:v>
                </c:pt>
                <c:pt idx="2">
                  <c:v>0.76700000000000002</c:v>
                </c:pt>
                <c:pt idx="3">
                  <c:v>0.83899999999999997</c:v>
                </c:pt>
                <c:pt idx="4">
                  <c:v>0.84399999999999997</c:v>
                </c:pt>
              </c:numCache>
            </c:numRef>
          </c:val>
          <c:extLst>
            <c:ext xmlns:c16="http://schemas.microsoft.com/office/drawing/2014/chart" uri="{C3380CC4-5D6E-409C-BE32-E72D297353CC}">
              <c16:uniqueId val="{0000000A-D423-43F0-8D9C-1CF2C2A739A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6670"/>
                </a:solidFill>
                <a:latin typeface="Calibri"/>
              </a:defRPr>
            </a:pPr>
            <a:endParaRPr lang="en-US"/>
          </a:p>
        </c:txPr>
        <c:crossAx val="2094734552"/>
        <c:crosses val="autoZero"/>
        <c:auto val="1"/>
        <c:lblAlgn val="ctr"/>
        <c:lblOffset val="100"/>
        <c:noMultiLvlLbl val="1"/>
      </c:catAx>
      <c:valAx>
        <c:axId val="2094734552"/>
        <c:scaling>
          <c:orientation val="minMax"/>
          <c:max val="0.9"/>
          <c:min val="0.5"/>
        </c:scaling>
        <c:delete val="0"/>
        <c:axPos val="b"/>
        <c:majorGridlines>
          <c:spPr>
            <a:ln w="12700" cap="flat">
              <a:solidFill>
                <a:srgbClr val="E2EC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667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0333A"/>
                </a:solidFill>
                <a:latin typeface="Cambria"/>
              </a:defRPr>
            </a:pPr>
            <a:r>
              <a:rPr lang="en-US" sz="1250" b="0" i="0" u="none" strike="noStrike">
                <a:solidFill>
                  <a:srgbClr val="10333A"/>
                </a:solidFill>
                <a:latin typeface="Cambria"/>
              </a:rPr>
              <a:t>Held-out test AUC after pruning</a:t>
            </a:r>
          </a:p>
        </c:rich>
      </c:tx>
      <c:overlay val="0"/>
    </c:title>
    <c:autoTitleDeleted val="0"/>
    <c:plotArea>
      <c:layout/>
      <c:barChart>
        <c:barDir val="col"/>
        <c:grouping val="clustered"/>
        <c:varyColors val="0"/>
        <c:ser>
          <c:idx val="0"/>
          <c:order val="0"/>
          <c:tx>
            <c:strRef>
              <c:f>Sheet1!$B$1</c:f>
              <c:strCache>
                <c:ptCount val="1"/>
                <c:pt idx="0">
                  <c:v>Test ROC-AUC</c:v>
                </c:pt>
              </c:strCache>
            </c:strRef>
          </c:tx>
          <c:spPr>
            <a:solidFill>
              <a:srgbClr val="9AA9AD"/>
            </a:solidFill>
            <a:effectLst/>
          </c:spPr>
          <c:invertIfNegative val="0"/>
          <c:dPt>
            <c:idx val="0"/>
            <c:invertIfNegative val="0"/>
            <c:bubble3D val="0"/>
            <c:spPr>
              <a:solidFill>
                <a:srgbClr val="9AA9AD"/>
              </a:solidFill>
              <a:effectLst/>
            </c:spPr>
            <c:extLst>
              <c:ext xmlns:c16="http://schemas.microsoft.com/office/drawing/2014/chart" uri="{C3380CC4-5D6E-409C-BE32-E72D297353CC}">
                <c16:uniqueId val="{00000001-A064-4234-87B6-42C0B82D34BF}"/>
              </c:ext>
            </c:extLst>
          </c:dPt>
          <c:dPt>
            <c:idx val="1"/>
            <c:invertIfNegative val="0"/>
            <c:bubble3D val="0"/>
            <c:spPr>
              <a:solidFill>
                <a:srgbClr val="028090"/>
              </a:solidFill>
              <a:effectLst/>
            </c:spPr>
            <c:extLst>
              <c:ext xmlns:c16="http://schemas.microsoft.com/office/drawing/2014/chart" uri="{C3380CC4-5D6E-409C-BE32-E72D297353CC}">
                <c16:uniqueId val="{00000003-A064-4234-87B6-42C0B82D34BF}"/>
              </c:ext>
            </c:extLst>
          </c:dPt>
          <c:dPt>
            <c:idx val="2"/>
            <c:invertIfNegative val="0"/>
            <c:bubble3D val="0"/>
            <c:spPr>
              <a:solidFill>
                <a:srgbClr val="00A896"/>
              </a:solidFill>
              <a:effectLst/>
            </c:spPr>
            <c:extLst>
              <c:ext xmlns:c16="http://schemas.microsoft.com/office/drawing/2014/chart" uri="{C3380CC4-5D6E-409C-BE32-E72D297353CC}">
                <c16:uniqueId val="{00000005-A064-4234-87B6-42C0B82D34BF}"/>
              </c:ext>
            </c:extLst>
          </c:dPt>
          <c:dPt>
            <c:idx val="3"/>
            <c:invertIfNegative val="0"/>
            <c:bubble3D val="0"/>
            <c:spPr>
              <a:solidFill>
                <a:srgbClr val="02C39A"/>
              </a:solidFill>
              <a:effectLst/>
            </c:spPr>
            <c:extLst>
              <c:ext xmlns:c16="http://schemas.microsoft.com/office/drawing/2014/chart" uri="{C3380CC4-5D6E-409C-BE32-E72D297353CC}">
                <c16:uniqueId val="{00000007-A064-4234-87B6-42C0B82D34BF}"/>
              </c:ext>
            </c:extLst>
          </c:dPt>
          <c:dLbls>
            <c:numFmt formatCode="0.0000" sourceLinked="0"/>
            <c:spPr>
              <a:noFill/>
              <a:ln>
                <a:noFill/>
              </a:ln>
              <a:effectLst/>
            </c:spPr>
            <c:txPr>
              <a:bodyPr/>
              <a:lstStyle/>
              <a:p>
                <a:pPr>
                  <a:defRPr sz="1100" b="0" i="0" u="none" strike="noStrike">
                    <a:solidFill>
                      <a:srgbClr val="103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All features
(98)</c:v>
                </c:pt>
                <c:pt idx="1">
                  <c:v>L1 / Lasso
(28)</c:v>
                </c:pt>
                <c:pt idx="2">
                  <c:v>Concept-grouped
(25)</c:v>
                </c:pt>
                <c:pt idx="3">
                  <c:v>Behavioural only
(31)</c:v>
                </c:pt>
              </c:strCache>
            </c:strRef>
          </c:cat>
          <c:val>
            <c:numRef>
              <c:f>Sheet1!$B$2:$B$5</c:f>
              <c:numCache>
                <c:formatCode>General</c:formatCode>
                <c:ptCount val="4"/>
                <c:pt idx="0">
                  <c:v>0.84560000000000002</c:v>
                </c:pt>
                <c:pt idx="1">
                  <c:v>0.84870000000000001</c:v>
                </c:pt>
                <c:pt idx="2">
                  <c:v>0.84709999999999996</c:v>
                </c:pt>
                <c:pt idx="3">
                  <c:v>0.84850000000000003</c:v>
                </c:pt>
              </c:numCache>
            </c:numRef>
          </c:val>
          <c:extLst>
            <c:ext xmlns:c16="http://schemas.microsoft.com/office/drawing/2014/chart" uri="{C3380CC4-5D6E-409C-BE32-E72D297353CC}">
              <c16:uniqueId val="{00000008-A064-4234-87B6-42C0B82D34B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6670"/>
                </a:solidFill>
                <a:latin typeface="Calibri"/>
              </a:defRPr>
            </a:pPr>
            <a:endParaRPr lang="en-US"/>
          </a:p>
        </c:txPr>
        <c:crossAx val="2094734552"/>
        <c:crosses val="autoZero"/>
        <c:auto val="1"/>
        <c:lblAlgn val="ctr"/>
        <c:lblOffset val="100"/>
        <c:noMultiLvlLbl val="1"/>
      </c:catAx>
      <c:valAx>
        <c:axId val="2094734552"/>
        <c:scaling>
          <c:orientation val="minMax"/>
          <c:max val="0.85499999999999998"/>
          <c:min val="0.83"/>
        </c:scaling>
        <c:delete val="0"/>
        <c:axPos val="l"/>
        <c:majorGridlines>
          <c:spPr>
            <a:ln w="12700" cap="flat">
              <a:solidFill>
                <a:srgbClr val="E2ECEC"/>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4A667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0333A"/>
                </a:solidFill>
                <a:latin typeface="Cambria"/>
              </a:defRPr>
            </a:pPr>
            <a:r>
              <a:rPr lang="en-US" sz="1300" b="0" i="0" u="none" strike="noStrike">
                <a:solidFill>
                  <a:srgbClr val="10333A"/>
                </a:solidFill>
                <a:latin typeface="Cambria"/>
              </a:rPr>
              <a:t>Churn rate by acquisition channel (%)</a:t>
            </a:r>
          </a:p>
        </c:rich>
      </c:tx>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02C39A"/>
            </a:solidFill>
            <a:effectLst/>
          </c:spPr>
          <c:invertIfNegative val="0"/>
          <c:dPt>
            <c:idx val="0"/>
            <c:invertIfNegative val="0"/>
            <c:bubble3D val="0"/>
            <c:spPr>
              <a:solidFill>
                <a:srgbClr val="02C39A"/>
              </a:solidFill>
              <a:effectLst/>
            </c:spPr>
            <c:extLst>
              <c:ext xmlns:c16="http://schemas.microsoft.com/office/drawing/2014/chart" uri="{C3380CC4-5D6E-409C-BE32-E72D297353CC}">
                <c16:uniqueId val="{00000001-5006-4894-9109-92E316353DBE}"/>
              </c:ext>
            </c:extLst>
          </c:dPt>
          <c:dPt>
            <c:idx val="1"/>
            <c:invertIfNegative val="0"/>
            <c:bubble3D val="0"/>
            <c:spPr>
              <a:solidFill>
                <a:srgbClr val="02C39A"/>
              </a:solidFill>
              <a:effectLst/>
            </c:spPr>
            <c:extLst>
              <c:ext xmlns:c16="http://schemas.microsoft.com/office/drawing/2014/chart" uri="{C3380CC4-5D6E-409C-BE32-E72D297353CC}">
                <c16:uniqueId val="{00000003-5006-4894-9109-92E316353DBE}"/>
              </c:ext>
            </c:extLst>
          </c:dPt>
          <c:dPt>
            <c:idx val="2"/>
            <c:invertIfNegative val="0"/>
            <c:bubble3D val="0"/>
            <c:spPr>
              <a:solidFill>
                <a:srgbClr val="00A896"/>
              </a:solidFill>
              <a:effectLst/>
            </c:spPr>
            <c:extLst>
              <c:ext xmlns:c16="http://schemas.microsoft.com/office/drawing/2014/chart" uri="{C3380CC4-5D6E-409C-BE32-E72D297353CC}">
                <c16:uniqueId val="{00000005-5006-4894-9109-92E316353DBE}"/>
              </c:ext>
            </c:extLst>
          </c:dPt>
          <c:dPt>
            <c:idx val="3"/>
            <c:invertIfNegative val="0"/>
            <c:bubble3D val="0"/>
            <c:spPr>
              <a:solidFill>
                <a:srgbClr val="00A896"/>
              </a:solidFill>
              <a:effectLst/>
            </c:spPr>
            <c:extLst>
              <c:ext xmlns:c16="http://schemas.microsoft.com/office/drawing/2014/chart" uri="{C3380CC4-5D6E-409C-BE32-E72D297353CC}">
                <c16:uniqueId val="{00000007-5006-4894-9109-92E316353DBE}"/>
              </c:ext>
            </c:extLst>
          </c:dPt>
          <c:dPt>
            <c:idx val="4"/>
            <c:invertIfNegative val="0"/>
            <c:bubble3D val="0"/>
            <c:spPr>
              <a:solidFill>
                <a:srgbClr val="D9A404"/>
              </a:solidFill>
              <a:effectLst/>
            </c:spPr>
            <c:extLst>
              <c:ext xmlns:c16="http://schemas.microsoft.com/office/drawing/2014/chart" uri="{C3380CC4-5D6E-409C-BE32-E72D297353CC}">
                <c16:uniqueId val="{00000009-5006-4894-9109-92E316353DBE}"/>
              </c:ext>
            </c:extLst>
          </c:dPt>
          <c:dPt>
            <c:idx val="5"/>
            <c:invertIfNegative val="0"/>
            <c:bubble3D val="0"/>
            <c:spPr>
              <a:solidFill>
                <a:srgbClr val="C1462F"/>
              </a:solidFill>
              <a:effectLst/>
            </c:spPr>
            <c:extLst>
              <c:ext xmlns:c16="http://schemas.microsoft.com/office/drawing/2014/chart" uri="{C3380CC4-5D6E-409C-BE32-E72D297353CC}">
                <c16:uniqueId val="{0000000B-5006-4894-9109-92E316353DBE}"/>
              </c:ext>
            </c:extLst>
          </c:dPt>
          <c:dPt>
            <c:idx val="6"/>
            <c:invertIfNegative val="0"/>
            <c:bubble3D val="0"/>
            <c:spPr>
              <a:solidFill>
                <a:srgbClr val="C1462F"/>
              </a:solidFill>
              <a:effectLst/>
            </c:spPr>
            <c:extLst>
              <c:ext xmlns:c16="http://schemas.microsoft.com/office/drawing/2014/chart" uri="{C3380CC4-5D6E-409C-BE32-E72D297353CC}">
                <c16:uniqueId val="{0000000D-5006-4894-9109-92E316353DBE}"/>
              </c:ext>
            </c:extLst>
          </c:dPt>
          <c:dLbls>
            <c:numFmt formatCode="0&quot;%&quot;" sourceLinked="0"/>
            <c:spPr>
              <a:noFill/>
              <a:ln>
                <a:noFill/>
              </a:ln>
              <a:effectLst/>
            </c:spPr>
            <c:txPr>
              <a:bodyPr/>
              <a:lstStyle/>
              <a:p>
                <a:pPr>
                  <a:defRPr sz="1100" b="0" i="0" u="none" strike="noStrike">
                    <a:solidFill>
                      <a:srgbClr val="103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Referral</c:v>
                </c:pt>
                <c:pt idx="1">
                  <c:v>Email</c:v>
                </c:pt>
                <c:pt idx="2">
                  <c:v>Direct</c:v>
                </c:pt>
                <c:pt idx="3">
                  <c:v>Organic</c:v>
                </c:pt>
                <c:pt idx="4">
                  <c:v>Marketplace</c:v>
                </c:pt>
                <c:pt idx="5">
                  <c:v>Influencer</c:v>
                </c:pt>
                <c:pt idx="6">
                  <c:v>Paid Social</c:v>
                </c:pt>
              </c:strCache>
            </c:strRef>
          </c:cat>
          <c:val>
            <c:numRef>
              <c:f>Sheet1!$B$2:$B$8</c:f>
              <c:numCache>
                <c:formatCode>General</c:formatCode>
                <c:ptCount val="7"/>
                <c:pt idx="0">
                  <c:v>46</c:v>
                </c:pt>
                <c:pt idx="1">
                  <c:v>49</c:v>
                </c:pt>
                <c:pt idx="2">
                  <c:v>53</c:v>
                </c:pt>
                <c:pt idx="3">
                  <c:v>54</c:v>
                </c:pt>
                <c:pt idx="4">
                  <c:v>59</c:v>
                </c:pt>
                <c:pt idx="5">
                  <c:v>63</c:v>
                </c:pt>
                <c:pt idx="6">
                  <c:v>67</c:v>
                </c:pt>
              </c:numCache>
            </c:numRef>
          </c:val>
          <c:extLst>
            <c:ext xmlns:c16="http://schemas.microsoft.com/office/drawing/2014/chart" uri="{C3380CC4-5D6E-409C-BE32-E72D297353CC}">
              <c16:uniqueId val="{0000000E-5006-4894-9109-92E316353DB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500000"/>
          <a:lstStyle/>
          <a:p>
            <a:pPr>
              <a:defRPr sz="950" b="0" i="0" u="none" strike="noStrike">
                <a:solidFill>
                  <a:srgbClr val="4A6670"/>
                </a:solidFill>
                <a:latin typeface="Calibri"/>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12700" cap="flat">
              <a:solidFill>
                <a:srgbClr val="E2EC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667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2689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generated a six-table dataset, cleaned it, engineered features, built a Random Forest churn model, then pruned it and ran the streaming pipeline on Docker.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Indexed count is 40,000 against 40,640 published — that gap is the double-fired-tag problem from cleaning, now handled at the streaming layer.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33A"/>
        </a:solidFill>
        <a:effectLst/>
      </p:bgPr>
    </p:bg>
    <p:spTree>
      <p:nvGrpSpPr>
        <p:cNvPr id="1" name=""/>
        <p:cNvGrpSpPr/>
        <p:nvPr/>
      </p:nvGrpSpPr>
      <p:grpSpPr>
        <a:xfrm>
          <a:off x="0" y="0"/>
          <a:ext cx="0" cy="0"/>
          <a:chOff x="0" y="0"/>
          <a:chExt cx="0" cy="0"/>
        </a:xfrm>
      </p:grpSpPr>
      <p:sp>
        <p:nvSpPr>
          <p:cNvPr id="4" name="Text 2"/>
          <p:cNvSpPr/>
          <p:nvPr/>
        </p:nvSpPr>
        <p:spPr>
          <a:xfrm>
            <a:off x="822960" y="1828800"/>
            <a:ext cx="8503920" cy="77724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Analyzing Customer Behaviour</a:t>
            </a:r>
            <a:endParaRPr lang="en-US" sz="3800" dirty="0"/>
          </a:p>
        </p:txBody>
      </p:sp>
      <p:sp>
        <p:nvSpPr>
          <p:cNvPr id="5" name="Text 3"/>
          <p:cNvSpPr/>
          <p:nvPr/>
        </p:nvSpPr>
        <p:spPr>
          <a:xfrm>
            <a:off x="822960" y="2578608"/>
            <a:ext cx="8503920" cy="777240"/>
          </a:xfrm>
          <a:prstGeom prst="rect">
            <a:avLst/>
          </a:prstGeom>
          <a:noFill/>
          <a:ln/>
        </p:spPr>
        <p:txBody>
          <a:bodyPr wrap="square" lIns="0" tIns="0" rIns="0" bIns="0" rtlCol="0" anchor="ctr"/>
          <a:lstStyle/>
          <a:p>
            <a:pPr marL="0" indent="0">
              <a:buNone/>
            </a:pPr>
            <a:r>
              <a:rPr lang="en-US" sz="3800" b="1" dirty="0">
                <a:solidFill>
                  <a:srgbClr val="02C39A"/>
                </a:solidFill>
                <a:latin typeface="Cambria" pitchFamily="34" charset="0"/>
                <a:ea typeface="Cambria" pitchFamily="34" charset="-122"/>
                <a:cs typeface="Cambria" pitchFamily="34" charset="-120"/>
              </a:rPr>
              <a:t>for E-commerce Insights</a:t>
            </a:r>
            <a:endParaRPr lang="en-US" sz="3800" dirty="0"/>
          </a:p>
        </p:txBody>
      </p:sp>
      <p:sp>
        <p:nvSpPr>
          <p:cNvPr id="6" name="Text 4"/>
          <p:cNvSpPr/>
          <p:nvPr/>
        </p:nvSpPr>
        <p:spPr>
          <a:xfrm>
            <a:off x="822960" y="3566160"/>
            <a:ext cx="8503920" cy="365760"/>
          </a:xfrm>
          <a:prstGeom prst="rect">
            <a:avLst/>
          </a:prstGeom>
          <a:noFill/>
          <a:ln/>
        </p:spPr>
        <p:txBody>
          <a:bodyPr wrap="square" lIns="0" tIns="0" rIns="0" bIns="0" rtlCol="0" anchor="ctr"/>
          <a:lstStyle/>
          <a:p>
            <a:pPr marL="0" indent="0">
              <a:buNone/>
            </a:pPr>
            <a:r>
              <a:rPr lang="en-US" sz="1500" dirty="0">
                <a:solidFill>
                  <a:srgbClr val="BBD4D8"/>
                </a:solidFill>
                <a:latin typeface="Calibri" pitchFamily="34" charset="0"/>
                <a:ea typeface="Calibri" pitchFamily="34" charset="-122"/>
                <a:cs typeface="Calibri" pitchFamily="34" charset="-120"/>
              </a:rPr>
              <a:t>Churn prediction on 867,000 records of Ghanaian e-commerce activity</a:t>
            </a:r>
            <a:endParaRPr lang="en-US" sz="1500" dirty="0"/>
          </a:p>
        </p:txBody>
      </p:sp>
      <p:sp>
        <p:nvSpPr>
          <p:cNvPr id="8" name="Text 6"/>
          <p:cNvSpPr/>
          <p:nvPr/>
        </p:nvSpPr>
        <p:spPr>
          <a:xfrm>
            <a:off x="822960" y="4617720"/>
            <a:ext cx="8229600" cy="1280160"/>
          </a:xfrm>
          <a:prstGeom prst="rect">
            <a:avLst/>
          </a:prstGeom>
          <a:noFill/>
          <a:ln/>
        </p:spPr>
        <p:txBody>
          <a:bodyPr wrap="square" lIns="0" tIns="0" rIns="0" bIns="0" rtlCol="0" anchor="ctr"/>
          <a:lstStyle/>
          <a:p>
            <a:pPr marL="0" indent="0">
              <a:lnSpc>
                <a:spcPts val="2000"/>
              </a:lnSpc>
              <a:buNone/>
            </a:pPr>
            <a:r>
              <a:rPr lang="en-US" sz="1300" b="1" dirty="0">
                <a:solidFill>
                  <a:srgbClr val="D6E6E8"/>
                </a:solidFill>
                <a:latin typeface="Calibri" pitchFamily="34" charset="0"/>
                <a:ea typeface="Calibri" pitchFamily="34" charset="-122"/>
                <a:cs typeface="Calibri" pitchFamily="34" charset="-120"/>
              </a:rPr>
              <a:t>Technical Assignment  ·  Npontu Technologies
</a:t>
            </a:r>
            <a:r>
              <a:rPr lang="en-US" sz="1300" dirty="0">
                <a:solidFill>
                  <a:srgbClr val="D6E6E8"/>
                </a:solidFill>
                <a:latin typeface="Calibri" pitchFamily="34" charset="0"/>
                <a:ea typeface="Calibri" pitchFamily="34" charset="-122"/>
                <a:cs typeface="Calibri" pitchFamily="34" charset="-120"/>
              </a:rPr>
              <a:t>Intelligent Systems Services Engineer
</a:t>
            </a:r>
            <a:r>
              <a:rPr lang="en-US" sz="1300" b="1" dirty="0">
                <a:solidFill>
                  <a:srgbClr val="02C39A"/>
                </a:solidFill>
                <a:latin typeface="Calibri" pitchFamily="34" charset="0"/>
                <a:ea typeface="Calibri" pitchFamily="34" charset="-122"/>
                <a:cs typeface="Calibri" pitchFamily="34" charset="-120"/>
              </a:rPr>
              <a:t>Harrison Nana Kwaku Agyako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The brief, and what I delivered</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Six requirements, each mapped to a section of the notebook</a:t>
            </a:r>
            <a:endParaRPr lang="en-US" sz="1350" dirty="0"/>
          </a:p>
        </p:txBody>
      </p:sp>
      <p:sp>
        <p:nvSpPr>
          <p:cNvPr id="4" name="Shape 2"/>
          <p:cNvSpPr/>
          <p:nvPr/>
        </p:nvSpPr>
        <p:spPr>
          <a:xfrm>
            <a:off x="640080" y="1737360"/>
            <a:ext cx="10881360" cy="640080"/>
          </a:xfrm>
          <a:prstGeom prst="roundRect">
            <a:avLst>
              <a:gd name="adj" fmla="val 8571"/>
            </a:avLst>
          </a:prstGeom>
          <a:solidFill>
            <a:srgbClr val="E8F2F2"/>
          </a:solidFill>
          <a:ln w="12700">
            <a:solidFill>
              <a:srgbClr val="E8F2F2"/>
            </a:solidFill>
            <a:prstDash val="solid"/>
          </a:ln>
        </p:spPr>
        <p:txBody>
          <a:bodyPr/>
          <a:lstStyle/>
          <a:p>
            <a:endParaRPr lang="en-US"/>
          </a:p>
        </p:txBody>
      </p:sp>
      <p:sp>
        <p:nvSpPr>
          <p:cNvPr id="5" name="Shape 3"/>
          <p:cNvSpPr/>
          <p:nvPr/>
        </p:nvSpPr>
        <p:spPr>
          <a:xfrm>
            <a:off x="822960" y="1856232"/>
            <a:ext cx="402336" cy="402336"/>
          </a:xfrm>
          <a:prstGeom prst="ellipse">
            <a:avLst/>
          </a:prstGeom>
          <a:solidFill>
            <a:srgbClr val="028090"/>
          </a:solidFill>
          <a:ln/>
        </p:spPr>
        <p:txBody>
          <a:bodyPr/>
          <a:lstStyle/>
          <a:p>
            <a:endParaRPr lang="en-US"/>
          </a:p>
        </p:txBody>
      </p:sp>
      <p:sp>
        <p:nvSpPr>
          <p:cNvPr id="6" name="Text 4"/>
          <p:cNvSpPr/>
          <p:nvPr/>
        </p:nvSpPr>
        <p:spPr>
          <a:xfrm>
            <a:off x="822960" y="18562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819656"/>
            <a:ext cx="2651760" cy="47548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Dataset</a:t>
            </a:r>
            <a:endParaRPr lang="en-US" sz="1300" dirty="0"/>
          </a:p>
        </p:txBody>
      </p:sp>
      <p:sp>
        <p:nvSpPr>
          <p:cNvPr id="8" name="Text 6"/>
          <p:cNvSpPr/>
          <p:nvPr/>
        </p:nvSpPr>
        <p:spPr>
          <a:xfrm>
            <a:off x="4114800" y="1819656"/>
            <a:ext cx="7223760" cy="475488"/>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Six related tables, 18 months, deliberately dirty</a:t>
            </a:r>
            <a:endParaRPr lang="en-US" sz="1200" dirty="0"/>
          </a:p>
        </p:txBody>
      </p:sp>
      <p:sp>
        <p:nvSpPr>
          <p:cNvPr id="9" name="Shape 7"/>
          <p:cNvSpPr/>
          <p:nvPr/>
        </p:nvSpPr>
        <p:spPr>
          <a:xfrm>
            <a:off x="640080" y="2514600"/>
            <a:ext cx="10881360" cy="640080"/>
          </a:xfrm>
          <a:prstGeom prst="roundRect">
            <a:avLst>
              <a:gd name="adj" fmla="val 8571"/>
            </a:avLst>
          </a:prstGeom>
          <a:solidFill>
            <a:srgbClr val="F1F7F7"/>
          </a:solidFill>
          <a:ln w="12700">
            <a:solidFill>
              <a:srgbClr val="F1F7F7"/>
            </a:solidFill>
            <a:prstDash val="solid"/>
          </a:ln>
        </p:spPr>
        <p:txBody>
          <a:bodyPr/>
          <a:lstStyle/>
          <a:p>
            <a:endParaRPr lang="en-US"/>
          </a:p>
        </p:txBody>
      </p:sp>
      <p:sp>
        <p:nvSpPr>
          <p:cNvPr id="10" name="Shape 8"/>
          <p:cNvSpPr/>
          <p:nvPr/>
        </p:nvSpPr>
        <p:spPr>
          <a:xfrm>
            <a:off x="822960" y="2633472"/>
            <a:ext cx="402336" cy="402336"/>
          </a:xfrm>
          <a:prstGeom prst="ellipse">
            <a:avLst/>
          </a:prstGeom>
          <a:solidFill>
            <a:srgbClr val="028090"/>
          </a:solidFill>
          <a:ln/>
        </p:spPr>
        <p:txBody>
          <a:bodyPr/>
          <a:lstStyle/>
          <a:p>
            <a:endParaRPr lang="en-US"/>
          </a:p>
        </p:txBody>
      </p:sp>
      <p:sp>
        <p:nvSpPr>
          <p:cNvPr id="11" name="Text 9"/>
          <p:cNvSpPr/>
          <p:nvPr/>
        </p:nvSpPr>
        <p:spPr>
          <a:xfrm>
            <a:off x="822960" y="26334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17320" y="2596896"/>
            <a:ext cx="2651760" cy="47548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Data cleaning</a:t>
            </a:r>
            <a:endParaRPr lang="en-US" sz="1300" dirty="0"/>
          </a:p>
        </p:txBody>
      </p:sp>
      <p:sp>
        <p:nvSpPr>
          <p:cNvPr id="13" name="Text 11"/>
          <p:cNvSpPr/>
          <p:nvPr/>
        </p:nvSpPr>
        <p:spPr>
          <a:xfrm>
            <a:off x="4114800" y="2596896"/>
            <a:ext cx="7223760" cy="475488"/>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281,569 logged corrections across duplicates, nulls, formats</a:t>
            </a:r>
            <a:endParaRPr lang="en-US" sz="1200" dirty="0"/>
          </a:p>
        </p:txBody>
      </p:sp>
      <p:sp>
        <p:nvSpPr>
          <p:cNvPr id="14" name="Shape 12"/>
          <p:cNvSpPr/>
          <p:nvPr/>
        </p:nvSpPr>
        <p:spPr>
          <a:xfrm>
            <a:off x="640080" y="3291840"/>
            <a:ext cx="10881360" cy="640080"/>
          </a:xfrm>
          <a:prstGeom prst="roundRect">
            <a:avLst>
              <a:gd name="adj" fmla="val 8571"/>
            </a:avLst>
          </a:prstGeom>
          <a:solidFill>
            <a:srgbClr val="E8F2F2"/>
          </a:solidFill>
          <a:ln w="12700">
            <a:solidFill>
              <a:srgbClr val="E8F2F2"/>
            </a:solidFill>
            <a:prstDash val="solid"/>
          </a:ln>
        </p:spPr>
        <p:txBody>
          <a:bodyPr/>
          <a:lstStyle/>
          <a:p>
            <a:endParaRPr lang="en-US"/>
          </a:p>
        </p:txBody>
      </p:sp>
      <p:sp>
        <p:nvSpPr>
          <p:cNvPr id="15" name="Shape 13"/>
          <p:cNvSpPr/>
          <p:nvPr/>
        </p:nvSpPr>
        <p:spPr>
          <a:xfrm>
            <a:off x="822960" y="3410712"/>
            <a:ext cx="402336" cy="402336"/>
          </a:xfrm>
          <a:prstGeom prst="ellipse">
            <a:avLst/>
          </a:prstGeom>
          <a:solidFill>
            <a:srgbClr val="028090"/>
          </a:solidFill>
          <a:ln/>
        </p:spPr>
        <p:txBody>
          <a:bodyPr/>
          <a:lstStyle/>
          <a:p>
            <a:endParaRPr lang="en-US"/>
          </a:p>
        </p:txBody>
      </p:sp>
      <p:sp>
        <p:nvSpPr>
          <p:cNvPr id="16" name="Text 14"/>
          <p:cNvSpPr/>
          <p:nvPr/>
        </p:nvSpPr>
        <p:spPr>
          <a:xfrm>
            <a:off x="822960" y="34107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374136"/>
            <a:ext cx="2651760" cy="47548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Feature engineering</a:t>
            </a:r>
            <a:endParaRPr lang="en-US" sz="1300" dirty="0"/>
          </a:p>
        </p:txBody>
      </p:sp>
      <p:sp>
        <p:nvSpPr>
          <p:cNvPr id="18" name="Text 16"/>
          <p:cNvSpPr/>
          <p:nvPr/>
        </p:nvSpPr>
        <p:spPr>
          <a:xfrm>
            <a:off x="4114800" y="3374136"/>
            <a:ext cx="7223760" cy="475488"/>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98 features engineered, pruned to 28 for the final model</a:t>
            </a:r>
            <a:endParaRPr lang="en-US" sz="1200" dirty="0"/>
          </a:p>
        </p:txBody>
      </p:sp>
      <p:sp>
        <p:nvSpPr>
          <p:cNvPr id="19" name="Shape 17"/>
          <p:cNvSpPr/>
          <p:nvPr/>
        </p:nvSpPr>
        <p:spPr>
          <a:xfrm>
            <a:off x="640080" y="4069080"/>
            <a:ext cx="10881360" cy="640080"/>
          </a:xfrm>
          <a:prstGeom prst="roundRect">
            <a:avLst>
              <a:gd name="adj" fmla="val 8571"/>
            </a:avLst>
          </a:prstGeom>
          <a:solidFill>
            <a:srgbClr val="F1F7F7"/>
          </a:solidFill>
          <a:ln w="12700">
            <a:solidFill>
              <a:srgbClr val="F1F7F7"/>
            </a:solidFill>
            <a:prstDash val="solid"/>
          </a:ln>
        </p:spPr>
        <p:txBody>
          <a:bodyPr/>
          <a:lstStyle/>
          <a:p>
            <a:endParaRPr lang="en-US"/>
          </a:p>
        </p:txBody>
      </p:sp>
      <p:sp>
        <p:nvSpPr>
          <p:cNvPr id="20" name="Shape 18"/>
          <p:cNvSpPr/>
          <p:nvPr/>
        </p:nvSpPr>
        <p:spPr>
          <a:xfrm>
            <a:off x="822960" y="4187952"/>
            <a:ext cx="402336" cy="402336"/>
          </a:xfrm>
          <a:prstGeom prst="ellipse">
            <a:avLst/>
          </a:prstGeom>
          <a:solidFill>
            <a:srgbClr val="028090"/>
          </a:solidFill>
          <a:ln/>
        </p:spPr>
        <p:txBody>
          <a:bodyPr/>
          <a:lstStyle/>
          <a:p>
            <a:endParaRPr lang="en-US"/>
          </a:p>
        </p:txBody>
      </p:sp>
      <p:sp>
        <p:nvSpPr>
          <p:cNvPr id="21" name="Text 19"/>
          <p:cNvSpPr/>
          <p:nvPr/>
        </p:nvSpPr>
        <p:spPr>
          <a:xfrm>
            <a:off x="822960" y="418795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417320" y="4151376"/>
            <a:ext cx="2651760" cy="47548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Predictive model</a:t>
            </a:r>
            <a:endParaRPr lang="en-US" sz="1300" dirty="0"/>
          </a:p>
        </p:txBody>
      </p:sp>
      <p:sp>
        <p:nvSpPr>
          <p:cNvPr id="23" name="Text 21"/>
          <p:cNvSpPr/>
          <p:nvPr/>
        </p:nvSpPr>
        <p:spPr>
          <a:xfrm>
            <a:off x="4114800" y="4151376"/>
            <a:ext cx="7223760" cy="475488"/>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Random Forest churn classifier, 0.849 test AUC</a:t>
            </a:r>
            <a:endParaRPr lang="en-US" sz="1200" dirty="0"/>
          </a:p>
        </p:txBody>
      </p:sp>
      <p:sp>
        <p:nvSpPr>
          <p:cNvPr id="24" name="Shape 22"/>
          <p:cNvSpPr/>
          <p:nvPr/>
        </p:nvSpPr>
        <p:spPr>
          <a:xfrm>
            <a:off x="640080" y="4846320"/>
            <a:ext cx="10881360" cy="640080"/>
          </a:xfrm>
          <a:prstGeom prst="roundRect">
            <a:avLst>
              <a:gd name="adj" fmla="val 8571"/>
            </a:avLst>
          </a:prstGeom>
          <a:solidFill>
            <a:srgbClr val="E8F2F2"/>
          </a:solidFill>
          <a:ln w="12700">
            <a:solidFill>
              <a:srgbClr val="E8F2F2"/>
            </a:solidFill>
            <a:prstDash val="solid"/>
          </a:ln>
        </p:spPr>
        <p:txBody>
          <a:bodyPr/>
          <a:lstStyle/>
          <a:p>
            <a:endParaRPr lang="en-US"/>
          </a:p>
        </p:txBody>
      </p:sp>
      <p:sp>
        <p:nvSpPr>
          <p:cNvPr id="25" name="Shape 23"/>
          <p:cNvSpPr/>
          <p:nvPr/>
        </p:nvSpPr>
        <p:spPr>
          <a:xfrm>
            <a:off x="822960" y="4965192"/>
            <a:ext cx="402336" cy="402336"/>
          </a:xfrm>
          <a:prstGeom prst="ellipse">
            <a:avLst/>
          </a:prstGeom>
          <a:solidFill>
            <a:srgbClr val="028090"/>
          </a:solidFill>
          <a:ln/>
        </p:spPr>
        <p:txBody>
          <a:bodyPr/>
          <a:lstStyle/>
          <a:p>
            <a:endParaRPr lang="en-US"/>
          </a:p>
        </p:txBody>
      </p:sp>
      <p:sp>
        <p:nvSpPr>
          <p:cNvPr id="26" name="Text 24"/>
          <p:cNvSpPr/>
          <p:nvPr/>
        </p:nvSpPr>
        <p:spPr>
          <a:xfrm>
            <a:off x="822960" y="496519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17320" y="4928616"/>
            <a:ext cx="2651760" cy="47548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Big data tooling</a:t>
            </a:r>
            <a:endParaRPr lang="en-US" sz="1300" dirty="0"/>
          </a:p>
        </p:txBody>
      </p:sp>
      <p:sp>
        <p:nvSpPr>
          <p:cNvPr id="28" name="Text 26"/>
          <p:cNvSpPr/>
          <p:nvPr/>
        </p:nvSpPr>
        <p:spPr>
          <a:xfrm>
            <a:off x="4114800" y="4928616"/>
            <a:ext cx="7223760" cy="475488"/>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Kafka -&gt; Elasticsearch -&gt; Kibana, running on Docker</a:t>
            </a:r>
            <a:endParaRPr lang="en-US" sz="1200" dirty="0"/>
          </a:p>
        </p:txBody>
      </p:sp>
      <p:sp>
        <p:nvSpPr>
          <p:cNvPr id="29" name="Shape 27"/>
          <p:cNvSpPr/>
          <p:nvPr/>
        </p:nvSpPr>
        <p:spPr>
          <a:xfrm>
            <a:off x="640080" y="5623560"/>
            <a:ext cx="10881360" cy="640080"/>
          </a:xfrm>
          <a:prstGeom prst="roundRect">
            <a:avLst>
              <a:gd name="adj" fmla="val 8571"/>
            </a:avLst>
          </a:prstGeom>
          <a:solidFill>
            <a:srgbClr val="F1F7F7"/>
          </a:solidFill>
          <a:ln w="12700">
            <a:solidFill>
              <a:srgbClr val="F1F7F7"/>
            </a:solidFill>
            <a:prstDash val="solid"/>
          </a:ln>
        </p:spPr>
        <p:txBody>
          <a:bodyPr/>
          <a:lstStyle/>
          <a:p>
            <a:endParaRPr lang="en-US"/>
          </a:p>
        </p:txBody>
      </p:sp>
      <p:sp>
        <p:nvSpPr>
          <p:cNvPr id="30" name="Shape 28"/>
          <p:cNvSpPr/>
          <p:nvPr/>
        </p:nvSpPr>
        <p:spPr>
          <a:xfrm>
            <a:off x="822960" y="5742432"/>
            <a:ext cx="402336" cy="402336"/>
          </a:xfrm>
          <a:prstGeom prst="ellipse">
            <a:avLst/>
          </a:prstGeom>
          <a:solidFill>
            <a:srgbClr val="028090"/>
          </a:solidFill>
          <a:ln/>
        </p:spPr>
        <p:txBody>
          <a:bodyPr/>
          <a:lstStyle/>
          <a:p>
            <a:endParaRPr lang="en-US"/>
          </a:p>
        </p:txBody>
      </p:sp>
      <p:sp>
        <p:nvSpPr>
          <p:cNvPr id="31" name="Text 29"/>
          <p:cNvSpPr/>
          <p:nvPr/>
        </p:nvSpPr>
        <p:spPr>
          <a:xfrm>
            <a:off x="822960" y="57424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1417320" y="5705856"/>
            <a:ext cx="2651760" cy="47548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Business insight</a:t>
            </a:r>
            <a:endParaRPr lang="en-US" sz="1300" dirty="0"/>
          </a:p>
        </p:txBody>
      </p:sp>
      <p:sp>
        <p:nvSpPr>
          <p:cNvPr id="33" name="Text 31"/>
          <p:cNvSpPr/>
          <p:nvPr/>
        </p:nvSpPr>
        <p:spPr>
          <a:xfrm>
            <a:off x="4114800" y="5705856"/>
            <a:ext cx="7223760" cy="475488"/>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Six recommendations, each backed by evidence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The dataset</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Six related tables simulating 18 months on a Ghana-based platform</a:t>
            </a:r>
            <a:endParaRPr lang="en-US" sz="1350" dirty="0"/>
          </a:p>
        </p:txBody>
      </p:sp>
      <p:sp>
        <p:nvSpPr>
          <p:cNvPr id="4" name="Shape 2"/>
          <p:cNvSpPr/>
          <p:nvPr/>
        </p:nvSpPr>
        <p:spPr>
          <a:xfrm>
            <a:off x="640080" y="1691640"/>
            <a:ext cx="6949440" cy="4206240"/>
          </a:xfrm>
          <a:prstGeom prst="roundRect">
            <a:avLst>
              <a:gd name="adj" fmla="val 1304"/>
            </a:avLst>
          </a:prstGeom>
          <a:solidFill>
            <a:srgbClr val="F1F7F7"/>
          </a:solidFill>
          <a:ln w="12700">
            <a:solidFill>
              <a:srgbClr val="F1F7F7"/>
            </a:solidFill>
            <a:prstDash val="solid"/>
          </a:ln>
        </p:spPr>
        <p:txBody>
          <a:bodyPr/>
          <a:lstStyle/>
          <a:p>
            <a:endParaRPr lang="en-US"/>
          </a:p>
        </p:txBody>
      </p:sp>
      <p:sp>
        <p:nvSpPr>
          <p:cNvPr id="5" name="Text 3"/>
          <p:cNvSpPr/>
          <p:nvPr/>
        </p:nvSpPr>
        <p:spPr>
          <a:xfrm>
            <a:off x="914400" y="1828800"/>
            <a:ext cx="1828800" cy="274320"/>
          </a:xfrm>
          <a:prstGeom prst="rect">
            <a:avLst/>
          </a:prstGeom>
          <a:noFill/>
          <a:ln/>
        </p:spPr>
        <p:txBody>
          <a:bodyPr wrap="square" lIns="0" tIns="0" rIns="0" bIns="0"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TABLE</a:t>
            </a:r>
            <a:endParaRPr lang="en-US" sz="900" dirty="0"/>
          </a:p>
        </p:txBody>
      </p:sp>
      <p:sp>
        <p:nvSpPr>
          <p:cNvPr id="6" name="Text 4"/>
          <p:cNvSpPr/>
          <p:nvPr/>
        </p:nvSpPr>
        <p:spPr>
          <a:xfrm>
            <a:off x="2743200" y="1828800"/>
            <a:ext cx="1188720" cy="274320"/>
          </a:xfrm>
          <a:prstGeom prst="rect">
            <a:avLst/>
          </a:prstGeom>
          <a:noFill/>
          <a:ln/>
        </p:spPr>
        <p:txBody>
          <a:bodyPr wrap="square" lIns="0" tIns="0" rIns="0" bIns="0" rtlCol="0" anchor="ctr"/>
          <a:lstStyle/>
          <a:p>
            <a:pPr marL="0" indent="0" algn="r">
              <a:buNone/>
            </a:pPr>
            <a:r>
              <a:rPr lang="en-US" sz="900" b="1" dirty="0">
                <a:solidFill>
                  <a:srgbClr val="028090"/>
                </a:solidFill>
                <a:latin typeface="Calibri" pitchFamily="34" charset="0"/>
                <a:ea typeface="Calibri" pitchFamily="34" charset="-122"/>
                <a:cs typeface="Calibri" pitchFamily="34" charset="-120"/>
              </a:rPr>
              <a:t>ROWS</a:t>
            </a:r>
            <a:endParaRPr lang="en-US" sz="900" dirty="0"/>
          </a:p>
        </p:txBody>
      </p:sp>
      <p:sp>
        <p:nvSpPr>
          <p:cNvPr id="7" name="Text 5"/>
          <p:cNvSpPr/>
          <p:nvPr/>
        </p:nvSpPr>
        <p:spPr>
          <a:xfrm>
            <a:off x="4206240" y="1828800"/>
            <a:ext cx="3200400" cy="274320"/>
          </a:xfrm>
          <a:prstGeom prst="rect">
            <a:avLst/>
          </a:prstGeom>
          <a:noFill/>
          <a:ln/>
        </p:spPr>
        <p:txBody>
          <a:bodyPr wrap="square" lIns="0" tIns="0" rIns="0" bIns="0"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CONTENT</a:t>
            </a:r>
            <a:endParaRPr lang="en-US" sz="900" dirty="0"/>
          </a:p>
        </p:txBody>
      </p:sp>
      <p:sp>
        <p:nvSpPr>
          <p:cNvPr id="8" name="Text 6"/>
          <p:cNvSpPr/>
          <p:nvPr/>
        </p:nvSpPr>
        <p:spPr>
          <a:xfrm>
            <a:off x="914400" y="2212848"/>
            <a:ext cx="1828800" cy="411480"/>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customers</a:t>
            </a:r>
            <a:endParaRPr lang="en-US" sz="1200" dirty="0"/>
          </a:p>
        </p:txBody>
      </p:sp>
      <p:sp>
        <p:nvSpPr>
          <p:cNvPr id="9" name="Text 7"/>
          <p:cNvSpPr/>
          <p:nvPr/>
        </p:nvSpPr>
        <p:spPr>
          <a:xfrm>
            <a:off x="2743200" y="2212848"/>
            <a:ext cx="1188720" cy="411480"/>
          </a:xfrm>
          <a:prstGeom prst="rect">
            <a:avLst/>
          </a:prstGeom>
          <a:noFill/>
          <a:ln/>
        </p:spPr>
        <p:txBody>
          <a:bodyPr wrap="square" lIns="0" tIns="0" rIns="0" bIns="0" rtlCol="0" anchor="ctr"/>
          <a:lstStyle/>
          <a:p>
            <a:pPr marL="0" indent="0" algn="r">
              <a:buNone/>
            </a:pPr>
            <a:r>
              <a:rPr lang="en-US" sz="1200" b="1" dirty="0">
                <a:solidFill>
                  <a:srgbClr val="00A896"/>
                </a:solidFill>
                <a:latin typeface="Calibri" pitchFamily="34" charset="0"/>
                <a:ea typeface="Calibri" pitchFamily="34" charset="-122"/>
                <a:cs typeface="Calibri" pitchFamily="34" charset="-120"/>
              </a:rPr>
              <a:t>20,706</a:t>
            </a:r>
            <a:endParaRPr lang="en-US" sz="1200" dirty="0"/>
          </a:p>
        </p:txBody>
      </p:sp>
      <p:sp>
        <p:nvSpPr>
          <p:cNvPr id="10" name="Text 8"/>
          <p:cNvSpPr/>
          <p:nvPr/>
        </p:nvSpPr>
        <p:spPr>
          <a:xfrm>
            <a:off x="4206240" y="2212848"/>
            <a:ext cx="3200400" cy="411480"/>
          </a:xfrm>
          <a:prstGeom prst="rect">
            <a:avLst/>
          </a:prstGeom>
          <a:noFill/>
          <a:ln/>
        </p:spPr>
        <p:txBody>
          <a:bodyPr wrap="square" lIns="0" tIns="0" rIns="0" bIns="0" rtlCol="0" anchor="ctr"/>
          <a:lstStyle/>
          <a:p>
            <a:pPr marL="0" indent="0">
              <a:buNone/>
            </a:pPr>
            <a:r>
              <a:rPr lang="en-US" sz="1050" dirty="0">
                <a:solidFill>
                  <a:srgbClr val="4A6670"/>
                </a:solidFill>
                <a:latin typeface="Calibri" pitchFamily="34" charset="0"/>
                <a:ea typeface="Calibri" pitchFamily="34" charset="-122"/>
                <a:cs typeface="Calibri" pitchFamily="34" charset="-120"/>
              </a:rPr>
              <a:t>demographics, acquisition, loyalty tier</a:t>
            </a:r>
            <a:endParaRPr lang="en-US" sz="1050" dirty="0"/>
          </a:p>
        </p:txBody>
      </p:sp>
      <p:sp>
        <p:nvSpPr>
          <p:cNvPr id="11" name="Text 9"/>
          <p:cNvSpPr/>
          <p:nvPr/>
        </p:nvSpPr>
        <p:spPr>
          <a:xfrm>
            <a:off x="914400" y="2798064"/>
            <a:ext cx="1828800" cy="411480"/>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products</a:t>
            </a:r>
            <a:endParaRPr lang="en-US" sz="1200" dirty="0"/>
          </a:p>
        </p:txBody>
      </p:sp>
      <p:sp>
        <p:nvSpPr>
          <p:cNvPr id="12" name="Text 10"/>
          <p:cNvSpPr/>
          <p:nvPr/>
        </p:nvSpPr>
        <p:spPr>
          <a:xfrm>
            <a:off x="2743200" y="2798064"/>
            <a:ext cx="1188720" cy="411480"/>
          </a:xfrm>
          <a:prstGeom prst="rect">
            <a:avLst/>
          </a:prstGeom>
          <a:noFill/>
          <a:ln/>
        </p:spPr>
        <p:txBody>
          <a:bodyPr wrap="square" lIns="0" tIns="0" rIns="0" bIns="0" rtlCol="0" anchor="ctr"/>
          <a:lstStyle/>
          <a:p>
            <a:pPr marL="0" indent="0" algn="r">
              <a:buNone/>
            </a:pPr>
            <a:r>
              <a:rPr lang="en-US" sz="1200" b="1" dirty="0">
                <a:solidFill>
                  <a:srgbClr val="00A896"/>
                </a:solidFill>
                <a:latin typeface="Calibri" pitchFamily="34" charset="0"/>
                <a:ea typeface="Calibri" pitchFamily="34" charset="-122"/>
                <a:cs typeface="Calibri" pitchFamily="34" charset="-120"/>
              </a:rPr>
              <a:t>1,555</a:t>
            </a:r>
            <a:endParaRPr lang="en-US" sz="1200" dirty="0"/>
          </a:p>
        </p:txBody>
      </p:sp>
      <p:sp>
        <p:nvSpPr>
          <p:cNvPr id="13" name="Text 11"/>
          <p:cNvSpPr/>
          <p:nvPr/>
        </p:nvSpPr>
        <p:spPr>
          <a:xfrm>
            <a:off x="4206240" y="2798064"/>
            <a:ext cx="3200400" cy="411480"/>
          </a:xfrm>
          <a:prstGeom prst="rect">
            <a:avLst/>
          </a:prstGeom>
          <a:noFill/>
          <a:ln/>
        </p:spPr>
        <p:txBody>
          <a:bodyPr wrap="square" lIns="0" tIns="0" rIns="0" bIns="0" rtlCol="0" anchor="ctr"/>
          <a:lstStyle/>
          <a:p>
            <a:pPr marL="0" indent="0">
              <a:buNone/>
            </a:pPr>
            <a:r>
              <a:rPr lang="en-US" sz="1050" dirty="0">
                <a:solidFill>
                  <a:srgbClr val="4A6670"/>
                </a:solidFill>
                <a:latin typeface="Calibri" pitchFamily="34" charset="0"/>
                <a:ea typeface="Calibri" pitchFamily="34" charset="-122"/>
                <a:cs typeface="Calibri" pitchFamily="34" charset="-120"/>
              </a:rPr>
              <a:t>catalogue, price, cost, category</a:t>
            </a:r>
            <a:endParaRPr lang="en-US" sz="1050" dirty="0"/>
          </a:p>
        </p:txBody>
      </p:sp>
      <p:sp>
        <p:nvSpPr>
          <p:cNvPr id="14" name="Text 12"/>
          <p:cNvSpPr/>
          <p:nvPr/>
        </p:nvSpPr>
        <p:spPr>
          <a:xfrm>
            <a:off x="914400" y="3383280"/>
            <a:ext cx="1828800" cy="411480"/>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orders</a:t>
            </a:r>
            <a:endParaRPr lang="en-US" sz="1200" dirty="0"/>
          </a:p>
        </p:txBody>
      </p:sp>
      <p:sp>
        <p:nvSpPr>
          <p:cNvPr id="15" name="Text 13"/>
          <p:cNvSpPr/>
          <p:nvPr/>
        </p:nvSpPr>
        <p:spPr>
          <a:xfrm>
            <a:off x="2743200" y="3383280"/>
            <a:ext cx="1188720" cy="411480"/>
          </a:xfrm>
          <a:prstGeom prst="rect">
            <a:avLst/>
          </a:prstGeom>
          <a:noFill/>
          <a:ln/>
        </p:spPr>
        <p:txBody>
          <a:bodyPr wrap="square" lIns="0" tIns="0" rIns="0" bIns="0" rtlCol="0" anchor="ctr"/>
          <a:lstStyle/>
          <a:p>
            <a:pPr marL="0" indent="0" algn="r">
              <a:buNone/>
            </a:pPr>
            <a:r>
              <a:rPr lang="en-US" sz="1200" b="1" dirty="0">
                <a:solidFill>
                  <a:srgbClr val="00A896"/>
                </a:solidFill>
                <a:latin typeface="Calibri" pitchFamily="34" charset="0"/>
                <a:ea typeface="Calibri" pitchFamily="34" charset="-122"/>
                <a:cs typeface="Calibri" pitchFamily="34" charset="-120"/>
              </a:rPr>
              <a:t>62,880</a:t>
            </a:r>
            <a:endParaRPr lang="en-US" sz="1200" dirty="0"/>
          </a:p>
        </p:txBody>
      </p:sp>
      <p:sp>
        <p:nvSpPr>
          <p:cNvPr id="16" name="Text 14"/>
          <p:cNvSpPr/>
          <p:nvPr/>
        </p:nvSpPr>
        <p:spPr>
          <a:xfrm>
            <a:off x="4206240" y="3383280"/>
            <a:ext cx="3200400" cy="411480"/>
          </a:xfrm>
          <a:prstGeom prst="rect">
            <a:avLst/>
          </a:prstGeom>
          <a:noFill/>
          <a:ln/>
        </p:spPr>
        <p:txBody>
          <a:bodyPr wrap="square" lIns="0" tIns="0" rIns="0" bIns="0" rtlCol="0" anchor="ctr"/>
          <a:lstStyle/>
          <a:p>
            <a:pPr marL="0" indent="0">
              <a:buNone/>
            </a:pPr>
            <a:r>
              <a:rPr lang="en-US" sz="1050" dirty="0">
                <a:solidFill>
                  <a:srgbClr val="4A6670"/>
                </a:solidFill>
                <a:latin typeface="Calibri" pitchFamily="34" charset="0"/>
                <a:ea typeface="Calibri" pitchFamily="34" charset="-122"/>
                <a:cs typeface="Calibri" pitchFamily="34" charset="-120"/>
              </a:rPr>
              <a:t>order header, payment, delivery</a:t>
            </a:r>
            <a:endParaRPr lang="en-US" sz="1050" dirty="0"/>
          </a:p>
        </p:txBody>
      </p:sp>
      <p:sp>
        <p:nvSpPr>
          <p:cNvPr id="17" name="Text 15"/>
          <p:cNvSpPr/>
          <p:nvPr/>
        </p:nvSpPr>
        <p:spPr>
          <a:xfrm>
            <a:off x="914400" y="3968496"/>
            <a:ext cx="1828800" cy="411480"/>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order_items</a:t>
            </a:r>
            <a:endParaRPr lang="en-US" sz="1200" dirty="0"/>
          </a:p>
        </p:txBody>
      </p:sp>
      <p:sp>
        <p:nvSpPr>
          <p:cNvPr id="18" name="Text 16"/>
          <p:cNvSpPr/>
          <p:nvPr/>
        </p:nvSpPr>
        <p:spPr>
          <a:xfrm>
            <a:off x="2743200" y="3968496"/>
            <a:ext cx="1188720" cy="411480"/>
          </a:xfrm>
          <a:prstGeom prst="rect">
            <a:avLst/>
          </a:prstGeom>
          <a:noFill/>
          <a:ln/>
        </p:spPr>
        <p:txBody>
          <a:bodyPr wrap="square" lIns="0" tIns="0" rIns="0" bIns="0" rtlCol="0" anchor="ctr"/>
          <a:lstStyle/>
          <a:p>
            <a:pPr marL="0" indent="0" algn="r">
              <a:buNone/>
            </a:pPr>
            <a:r>
              <a:rPr lang="en-US" sz="1200" b="1" dirty="0">
                <a:solidFill>
                  <a:srgbClr val="00A896"/>
                </a:solidFill>
                <a:latin typeface="Calibri" pitchFamily="34" charset="0"/>
                <a:ea typeface="Calibri" pitchFamily="34" charset="-122"/>
                <a:cs typeface="Calibri" pitchFamily="34" charset="-120"/>
              </a:rPr>
              <a:t>116,236</a:t>
            </a:r>
            <a:endParaRPr lang="en-US" sz="1200" dirty="0"/>
          </a:p>
        </p:txBody>
      </p:sp>
      <p:sp>
        <p:nvSpPr>
          <p:cNvPr id="19" name="Text 17"/>
          <p:cNvSpPr/>
          <p:nvPr/>
        </p:nvSpPr>
        <p:spPr>
          <a:xfrm>
            <a:off x="4206240" y="3968496"/>
            <a:ext cx="3200400" cy="411480"/>
          </a:xfrm>
          <a:prstGeom prst="rect">
            <a:avLst/>
          </a:prstGeom>
          <a:noFill/>
          <a:ln/>
        </p:spPr>
        <p:txBody>
          <a:bodyPr wrap="square" lIns="0" tIns="0" rIns="0" bIns="0" rtlCol="0" anchor="ctr"/>
          <a:lstStyle/>
          <a:p>
            <a:pPr marL="0" indent="0">
              <a:buNone/>
            </a:pPr>
            <a:r>
              <a:rPr lang="en-US" sz="1050" dirty="0">
                <a:solidFill>
                  <a:srgbClr val="4A6670"/>
                </a:solidFill>
                <a:latin typeface="Calibri" pitchFamily="34" charset="0"/>
                <a:ea typeface="Calibri" pitchFamily="34" charset="-122"/>
                <a:cs typeface="Calibri" pitchFamily="34" charset="-120"/>
              </a:rPr>
              <a:t>line items, quantity, discount</a:t>
            </a:r>
            <a:endParaRPr lang="en-US" sz="1050" dirty="0"/>
          </a:p>
        </p:txBody>
      </p:sp>
      <p:sp>
        <p:nvSpPr>
          <p:cNvPr id="20" name="Text 18"/>
          <p:cNvSpPr/>
          <p:nvPr/>
        </p:nvSpPr>
        <p:spPr>
          <a:xfrm>
            <a:off x="914400" y="4553712"/>
            <a:ext cx="1828800" cy="411480"/>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events</a:t>
            </a:r>
            <a:endParaRPr lang="en-US" sz="1200" dirty="0"/>
          </a:p>
        </p:txBody>
      </p:sp>
      <p:sp>
        <p:nvSpPr>
          <p:cNvPr id="21" name="Text 19"/>
          <p:cNvSpPr/>
          <p:nvPr/>
        </p:nvSpPr>
        <p:spPr>
          <a:xfrm>
            <a:off x="2743200" y="4553712"/>
            <a:ext cx="1188720" cy="411480"/>
          </a:xfrm>
          <a:prstGeom prst="rect">
            <a:avLst/>
          </a:prstGeom>
          <a:noFill/>
          <a:ln/>
        </p:spPr>
        <p:txBody>
          <a:bodyPr wrap="square" lIns="0" tIns="0" rIns="0" bIns="0" rtlCol="0" anchor="ctr"/>
          <a:lstStyle/>
          <a:p>
            <a:pPr marL="0" indent="0" algn="r">
              <a:buNone/>
            </a:pPr>
            <a:r>
              <a:rPr lang="en-US" sz="1200" b="1" dirty="0">
                <a:solidFill>
                  <a:srgbClr val="00A896"/>
                </a:solidFill>
                <a:latin typeface="Calibri" pitchFamily="34" charset="0"/>
                <a:ea typeface="Calibri" pitchFamily="34" charset="-122"/>
                <a:cs typeface="Calibri" pitchFamily="34" charset="-120"/>
              </a:rPr>
              <a:t>646,969</a:t>
            </a:r>
            <a:endParaRPr lang="en-US" sz="1200" dirty="0"/>
          </a:p>
        </p:txBody>
      </p:sp>
      <p:sp>
        <p:nvSpPr>
          <p:cNvPr id="22" name="Text 20"/>
          <p:cNvSpPr/>
          <p:nvPr/>
        </p:nvSpPr>
        <p:spPr>
          <a:xfrm>
            <a:off x="4206240" y="4553712"/>
            <a:ext cx="3200400" cy="411480"/>
          </a:xfrm>
          <a:prstGeom prst="rect">
            <a:avLst/>
          </a:prstGeom>
          <a:noFill/>
          <a:ln/>
        </p:spPr>
        <p:txBody>
          <a:bodyPr wrap="square" lIns="0" tIns="0" rIns="0" bIns="0" rtlCol="0" anchor="ctr"/>
          <a:lstStyle/>
          <a:p>
            <a:pPr marL="0" indent="0">
              <a:buNone/>
            </a:pPr>
            <a:r>
              <a:rPr lang="en-US" sz="1050" dirty="0">
                <a:solidFill>
                  <a:srgbClr val="4A6670"/>
                </a:solidFill>
                <a:latin typeface="Calibri" pitchFamily="34" charset="0"/>
                <a:ea typeface="Calibri" pitchFamily="34" charset="-122"/>
                <a:cs typeface="Calibri" pitchFamily="34" charset="-120"/>
              </a:rPr>
              <a:t>Clickstream - views, carts, purchases</a:t>
            </a:r>
            <a:endParaRPr lang="en-US" sz="1050" dirty="0"/>
          </a:p>
        </p:txBody>
      </p:sp>
      <p:sp>
        <p:nvSpPr>
          <p:cNvPr id="23" name="Text 21"/>
          <p:cNvSpPr/>
          <p:nvPr/>
        </p:nvSpPr>
        <p:spPr>
          <a:xfrm>
            <a:off x="914400" y="5138928"/>
            <a:ext cx="1828800" cy="411480"/>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reviews</a:t>
            </a:r>
            <a:endParaRPr lang="en-US" sz="1200" dirty="0"/>
          </a:p>
        </p:txBody>
      </p:sp>
      <p:sp>
        <p:nvSpPr>
          <p:cNvPr id="24" name="Text 22"/>
          <p:cNvSpPr/>
          <p:nvPr/>
        </p:nvSpPr>
        <p:spPr>
          <a:xfrm>
            <a:off x="2743200" y="5138928"/>
            <a:ext cx="1188720" cy="411480"/>
          </a:xfrm>
          <a:prstGeom prst="rect">
            <a:avLst/>
          </a:prstGeom>
          <a:noFill/>
          <a:ln/>
        </p:spPr>
        <p:txBody>
          <a:bodyPr wrap="square" lIns="0" tIns="0" rIns="0" bIns="0" rtlCol="0" anchor="ctr"/>
          <a:lstStyle/>
          <a:p>
            <a:pPr marL="0" indent="0" algn="r">
              <a:buNone/>
            </a:pPr>
            <a:r>
              <a:rPr lang="en-US" sz="1200" b="1" dirty="0">
                <a:solidFill>
                  <a:srgbClr val="00A896"/>
                </a:solidFill>
                <a:latin typeface="Calibri" pitchFamily="34" charset="0"/>
                <a:ea typeface="Calibri" pitchFamily="34" charset="-122"/>
                <a:cs typeface="Calibri" pitchFamily="34" charset="-120"/>
              </a:rPr>
              <a:t>18,919</a:t>
            </a:r>
            <a:endParaRPr lang="en-US" sz="1200" dirty="0"/>
          </a:p>
        </p:txBody>
      </p:sp>
      <p:sp>
        <p:nvSpPr>
          <p:cNvPr id="25" name="Text 23"/>
          <p:cNvSpPr/>
          <p:nvPr/>
        </p:nvSpPr>
        <p:spPr>
          <a:xfrm>
            <a:off x="4206240" y="5138928"/>
            <a:ext cx="3200400" cy="411480"/>
          </a:xfrm>
          <a:prstGeom prst="rect">
            <a:avLst/>
          </a:prstGeom>
          <a:noFill/>
          <a:ln/>
        </p:spPr>
        <p:txBody>
          <a:bodyPr wrap="square" lIns="0" tIns="0" rIns="0" bIns="0" rtlCol="0" anchor="ctr"/>
          <a:lstStyle/>
          <a:p>
            <a:pPr marL="0" indent="0">
              <a:buNone/>
            </a:pPr>
            <a:r>
              <a:rPr lang="en-US" sz="1050" dirty="0">
                <a:solidFill>
                  <a:srgbClr val="4A6670"/>
                </a:solidFill>
                <a:latin typeface="Calibri" pitchFamily="34" charset="0"/>
                <a:ea typeface="Calibri" pitchFamily="34" charset="-122"/>
                <a:cs typeface="Calibri" pitchFamily="34" charset="-120"/>
              </a:rPr>
              <a:t>ratings and review text</a:t>
            </a:r>
            <a:endParaRPr lang="en-US" sz="1050" dirty="0"/>
          </a:p>
        </p:txBody>
      </p:sp>
      <p:sp>
        <p:nvSpPr>
          <p:cNvPr id="26" name="Shape 24"/>
          <p:cNvSpPr/>
          <p:nvPr/>
        </p:nvSpPr>
        <p:spPr>
          <a:xfrm>
            <a:off x="7955280" y="1691640"/>
            <a:ext cx="3566160" cy="1920240"/>
          </a:xfrm>
          <a:prstGeom prst="roundRect">
            <a:avLst>
              <a:gd name="adj" fmla="val 2857"/>
            </a:avLst>
          </a:prstGeom>
          <a:solidFill>
            <a:srgbClr val="10333A"/>
          </a:solidFill>
          <a:ln w="12700">
            <a:solidFill>
              <a:srgbClr val="10333A"/>
            </a:solidFill>
            <a:prstDash val="solid"/>
          </a:ln>
        </p:spPr>
        <p:txBody>
          <a:bodyPr/>
          <a:lstStyle/>
          <a:p>
            <a:endParaRPr lang="en-US"/>
          </a:p>
        </p:txBody>
      </p:sp>
      <p:sp>
        <p:nvSpPr>
          <p:cNvPr id="27" name="Text 25"/>
          <p:cNvSpPr/>
          <p:nvPr/>
        </p:nvSpPr>
        <p:spPr>
          <a:xfrm>
            <a:off x="7955280" y="1965960"/>
            <a:ext cx="3566160" cy="685800"/>
          </a:xfrm>
          <a:prstGeom prst="rect">
            <a:avLst/>
          </a:prstGeom>
          <a:noFill/>
          <a:ln/>
        </p:spPr>
        <p:txBody>
          <a:bodyPr wrap="square" lIns="0" tIns="0" rIns="0" bIns="0" rtlCol="0" anchor="ctr"/>
          <a:lstStyle/>
          <a:p>
            <a:pPr marL="0" indent="0" algn="ctr">
              <a:buNone/>
            </a:pPr>
            <a:r>
              <a:rPr lang="en-US" sz="3800" b="1" dirty="0">
                <a:solidFill>
                  <a:srgbClr val="02C39A"/>
                </a:solidFill>
                <a:latin typeface="Cambria" pitchFamily="34" charset="0"/>
                <a:ea typeface="Cambria" pitchFamily="34" charset="-122"/>
                <a:cs typeface="Cambria" pitchFamily="34" charset="-120"/>
              </a:rPr>
              <a:t>867,265</a:t>
            </a:r>
            <a:endParaRPr lang="en-US" sz="3800" dirty="0"/>
          </a:p>
        </p:txBody>
      </p:sp>
      <p:sp>
        <p:nvSpPr>
          <p:cNvPr id="28" name="Text 26"/>
          <p:cNvSpPr/>
          <p:nvPr/>
        </p:nvSpPr>
        <p:spPr>
          <a:xfrm>
            <a:off x="7955280" y="2651760"/>
            <a:ext cx="3566160" cy="320040"/>
          </a:xfrm>
          <a:prstGeom prst="rect">
            <a:avLst/>
          </a:prstGeom>
          <a:noFill/>
          <a:ln/>
        </p:spPr>
        <p:txBody>
          <a:bodyPr wrap="square" lIns="0" tIns="0" rIns="0" bIns="0" rtlCol="0" anchor="ctr"/>
          <a:lstStyle/>
          <a:p>
            <a:pPr marL="0" indent="0" algn="ctr">
              <a:buNone/>
            </a:pPr>
            <a:r>
              <a:rPr lang="en-US" sz="1150" dirty="0">
                <a:solidFill>
                  <a:srgbClr val="BBD4D8"/>
                </a:solidFill>
                <a:latin typeface="Calibri" pitchFamily="34" charset="0"/>
                <a:ea typeface="Calibri" pitchFamily="34" charset="-122"/>
                <a:cs typeface="Calibri" pitchFamily="34" charset="-120"/>
              </a:rPr>
              <a:t>total records ingested</a:t>
            </a:r>
            <a:endParaRPr lang="en-US" sz="1150" dirty="0"/>
          </a:p>
        </p:txBody>
      </p:sp>
      <p:sp>
        <p:nvSpPr>
          <p:cNvPr id="29" name="Text 27"/>
          <p:cNvSpPr/>
          <p:nvPr/>
        </p:nvSpPr>
        <p:spPr>
          <a:xfrm>
            <a:off x="7955280" y="2999232"/>
            <a:ext cx="3566160" cy="320040"/>
          </a:xfrm>
          <a:prstGeom prst="rect">
            <a:avLst/>
          </a:prstGeom>
          <a:noFill/>
          <a:ln/>
        </p:spPr>
        <p:txBody>
          <a:bodyPr wrap="square" lIns="0" tIns="0" rIns="0" bIns="0" rtlCol="0" anchor="ctr"/>
          <a:lstStyle/>
          <a:p>
            <a:pPr marL="0" indent="0" algn="ctr">
              <a:buNone/>
            </a:pPr>
            <a:r>
              <a:rPr lang="en-US" sz="1000" i="1" dirty="0">
                <a:solidFill>
                  <a:srgbClr val="8FB3B8"/>
                </a:solidFill>
                <a:latin typeface="Calibri" pitchFamily="34" charset="0"/>
                <a:ea typeface="Calibri" pitchFamily="34" charset="-122"/>
                <a:cs typeface="Calibri" pitchFamily="34" charset="-120"/>
              </a:rPr>
              <a:t>~106 MB across six tables</a:t>
            </a:r>
            <a:endParaRPr lang="en-US" sz="1000" dirty="0"/>
          </a:p>
        </p:txBody>
      </p:sp>
      <p:sp>
        <p:nvSpPr>
          <p:cNvPr id="30" name="Shape 28"/>
          <p:cNvSpPr/>
          <p:nvPr/>
        </p:nvSpPr>
        <p:spPr>
          <a:xfrm>
            <a:off x="7955280" y="3840480"/>
            <a:ext cx="3566160" cy="2057400"/>
          </a:xfrm>
          <a:prstGeom prst="roundRect">
            <a:avLst>
              <a:gd name="adj" fmla="val 2667"/>
            </a:avLst>
          </a:prstGeom>
          <a:solidFill>
            <a:srgbClr val="F1F7F7"/>
          </a:solidFill>
          <a:ln w="12700">
            <a:solidFill>
              <a:srgbClr val="F1F7F7"/>
            </a:solidFill>
            <a:prstDash val="solid"/>
          </a:ln>
        </p:spPr>
        <p:txBody>
          <a:bodyPr/>
          <a:lstStyle/>
          <a:p>
            <a:endParaRPr lang="en-US"/>
          </a:p>
        </p:txBody>
      </p:sp>
      <p:sp>
        <p:nvSpPr>
          <p:cNvPr id="31" name="Text 29"/>
          <p:cNvSpPr/>
          <p:nvPr/>
        </p:nvSpPr>
        <p:spPr>
          <a:xfrm>
            <a:off x="8229600" y="4023360"/>
            <a:ext cx="3017520" cy="320040"/>
          </a:xfrm>
          <a:prstGeom prst="rect">
            <a:avLst/>
          </a:prstGeom>
          <a:noFill/>
          <a:ln/>
        </p:spPr>
        <p:txBody>
          <a:bodyPr wrap="square" lIns="0" tIns="0" rIns="0" bIns="0" rtlCol="0" anchor="ctr"/>
          <a:lstStyle/>
          <a:p>
            <a:pPr marL="0" indent="0">
              <a:buNone/>
            </a:pPr>
            <a:r>
              <a:rPr lang="en-US" sz="1250" b="1" dirty="0">
                <a:solidFill>
                  <a:srgbClr val="10333A"/>
                </a:solidFill>
                <a:latin typeface="Calibri" pitchFamily="34" charset="0"/>
                <a:ea typeface="Calibri" pitchFamily="34" charset="-122"/>
                <a:cs typeface="Calibri" pitchFamily="34" charset="-120"/>
              </a:rPr>
              <a:t>Why generate it?</a:t>
            </a:r>
            <a:endParaRPr lang="en-US" sz="1250" dirty="0"/>
          </a:p>
        </p:txBody>
      </p:sp>
      <p:sp>
        <p:nvSpPr>
          <p:cNvPr id="32" name="Text 30"/>
          <p:cNvSpPr/>
          <p:nvPr/>
        </p:nvSpPr>
        <p:spPr>
          <a:xfrm>
            <a:off x="8229600" y="4352544"/>
            <a:ext cx="3017520" cy="1371600"/>
          </a:xfrm>
          <a:prstGeom prst="rect">
            <a:avLst/>
          </a:prstGeom>
          <a:noFill/>
          <a:ln/>
        </p:spPr>
        <p:txBody>
          <a:bodyPr wrap="square" lIns="0" tIns="0" rIns="0" bIns="0" rtlCol="0" anchor="ctr"/>
          <a:lstStyle/>
          <a:p>
            <a:pPr marL="0" indent="0">
              <a:buNone/>
            </a:pPr>
            <a:r>
              <a:rPr lang="en-US" sz="1050" dirty="0">
                <a:solidFill>
                  <a:srgbClr val="4A6670"/>
                </a:solidFill>
                <a:latin typeface="Calibri" pitchFamily="34" charset="0"/>
                <a:ea typeface="Calibri" pitchFamily="34" charset="-122"/>
                <a:cs typeface="Calibri" pitchFamily="34" charset="-120"/>
              </a:rPr>
              <a:t>Real e-commerce data is dirty. I injected the defects deliberately so the cleaning stage had something genuine to solve, and so every fix is verifiable against a known count.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What was wrong with the data</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Findings from exploratory analysis — before a single fix</a:t>
            </a:r>
            <a:endParaRPr lang="en-US" sz="1350" dirty="0"/>
          </a:p>
        </p:txBody>
      </p:sp>
      <p:sp>
        <p:nvSpPr>
          <p:cNvPr id="4" name="Shape 2"/>
          <p:cNvSpPr/>
          <p:nvPr/>
        </p:nvSpPr>
        <p:spPr>
          <a:xfrm>
            <a:off x="640080" y="1737360"/>
            <a:ext cx="3429000" cy="1874520"/>
          </a:xfrm>
          <a:prstGeom prst="roundRect">
            <a:avLst>
              <a:gd name="adj" fmla="val 2927"/>
            </a:avLst>
          </a:prstGeom>
          <a:solidFill>
            <a:srgbClr val="F1F7F7"/>
          </a:solidFill>
          <a:ln w="12700">
            <a:solidFill>
              <a:srgbClr val="F1F7F7"/>
            </a:solidFill>
            <a:prstDash val="solid"/>
          </a:ln>
        </p:spPr>
        <p:txBody>
          <a:bodyPr/>
          <a:lstStyle/>
          <a:p>
            <a:endParaRPr lang="en-US"/>
          </a:p>
        </p:txBody>
      </p:sp>
      <p:sp>
        <p:nvSpPr>
          <p:cNvPr id="5" name="Text 3"/>
          <p:cNvSpPr/>
          <p:nvPr/>
        </p:nvSpPr>
        <p:spPr>
          <a:xfrm>
            <a:off x="868680" y="1883664"/>
            <a:ext cx="2971800" cy="548640"/>
          </a:xfrm>
          <a:prstGeom prst="rect">
            <a:avLst/>
          </a:prstGeom>
          <a:noFill/>
          <a:ln/>
        </p:spPr>
        <p:txBody>
          <a:bodyPr wrap="square" lIns="0" tIns="0" rIns="0" bIns="0" rtlCol="0" anchor="ctr"/>
          <a:lstStyle/>
          <a:p>
            <a:pPr marL="0" indent="0">
              <a:buNone/>
            </a:pPr>
            <a:r>
              <a:rPr lang="en-US" sz="2600" b="1" dirty="0">
                <a:solidFill>
                  <a:srgbClr val="C1462F"/>
                </a:solidFill>
                <a:latin typeface="Cambria" pitchFamily="34" charset="0"/>
                <a:ea typeface="Cambria" pitchFamily="34" charset="-122"/>
                <a:cs typeface="Cambria" pitchFamily="34" charset="-120"/>
              </a:rPr>
              <a:t>10,188</a:t>
            </a:r>
            <a:endParaRPr lang="en-US" sz="2600" dirty="0"/>
          </a:p>
        </p:txBody>
      </p:sp>
      <p:sp>
        <p:nvSpPr>
          <p:cNvPr id="6" name="Text 4"/>
          <p:cNvSpPr/>
          <p:nvPr/>
        </p:nvSpPr>
        <p:spPr>
          <a:xfrm>
            <a:off x="868680" y="2404872"/>
            <a:ext cx="2971800" cy="274320"/>
          </a:xfrm>
          <a:prstGeom prst="rect">
            <a:avLst/>
          </a:prstGeom>
          <a:noFill/>
          <a:ln/>
        </p:spPr>
        <p:txBody>
          <a:bodyPr wrap="square" lIns="0" tIns="0" rIns="0" bIns="0" rtlCol="0" anchor="ctr"/>
          <a:lstStyle/>
          <a:p>
            <a:pPr marL="0" indent="0">
              <a:buNone/>
            </a:pPr>
            <a:r>
              <a:rPr lang="en-US" sz="1100" b="1" dirty="0">
                <a:solidFill>
                  <a:srgbClr val="10333A"/>
                </a:solidFill>
                <a:latin typeface="Calibri" pitchFamily="34" charset="0"/>
                <a:ea typeface="Calibri" pitchFamily="34" charset="-122"/>
                <a:cs typeface="Calibri" pitchFamily="34" charset="-120"/>
              </a:rPr>
              <a:t>duplicate events</a:t>
            </a:r>
            <a:endParaRPr lang="en-US" sz="1100" dirty="0"/>
          </a:p>
        </p:txBody>
      </p:sp>
      <p:sp>
        <p:nvSpPr>
          <p:cNvPr id="7" name="Text 5"/>
          <p:cNvSpPr/>
          <p:nvPr/>
        </p:nvSpPr>
        <p:spPr>
          <a:xfrm>
            <a:off x="868680" y="2706624"/>
            <a:ext cx="2971800" cy="77724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The same click logged twice by a double-fired analytics tag. Left in, every funnel metric inflates.</a:t>
            </a:r>
            <a:endParaRPr lang="en-US" sz="950" dirty="0"/>
          </a:p>
        </p:txBody>
      </p:sp>
      <p:sp>
        <p:nvSpPr>
          <p:cNvPr id="8" name="Shape 6"/>
          <p:cNvSpPr/>
          <p:nvPr/>
        </p:nvSpPr>
        <p:spPr>
          <a:xfrm>
            <a:off x="4343400" y="1737360"/>
            <a:ext cx="3429000" cy="1874520"/>
          </a:xfrm>
          <a:prstGeom prst="roundRect">
            <a:avLst>
              <a:gd name="adj" fmla="val 2927"/>
            </a:avLst>
          </a:prstGeom>
          <a:solidFill>
            <a:srgbClr val="F1F7F7"/>
          </a:solidFill>
          <a:ln w="12700">
            <a:solidFill>
              <a:srgbClr val="F1F7F7"/>
            </a:solidFill>
            <a:prstDash val="solid"/>
          </a:ln>
        </p:spPr>
        <p:txBody>
          <a:bodyPr/>
          <a:lstStyle/>
          <a:p>
            <a:endParaRPr lang="en-US"/>
          </a:p>
        </p:txBody>
      </p:sp>
      <p:sp>
        <p:nvSpPr>
          <p:cNvPr id="9" name="Text 7"/>
          <p:cNvSpPr/>
          <p:nvPr/>
        </p:nvSpPr>
        <p:spPr>
          <a:xfrm>
            <a:off x="4572000" y="1883664"/>
            <a:ext cx="2971800" cy="548640"/>
          </a:xfrm>
          <a:prstGeom prst="rect">
            <a:avLst/>
          </a:prstGeom>
          <a:noFill/>
          <a:ln/>
        </p:spPr>
        <p:txBody>
          <a:bodyPr wrap="square" lIns="0" tIns="0" rIns="0" bIns="0" rtlCol="0" anchor="ctr"/>
          <a:lstStyle/>
          <a:p>
            <a:pPr marL="0" indent="0">
              <a:buNone/>
            </a:pPr>
            <a:r>
              <a:rPr lang="en-US" sz="2600" b="1" dirty="0">
                <a:solidFill>
                  <a:srgbClr val="D9A404"/>
                </a:solidFill>
                <a:latin typeface="Cambria" pitchFamily="34" charset="0"/>
                <a:ea typeface="Cambria" pitchFamily="34" charset="-122"/>
                <a:cs typeface="Cambria" pitchFamily="34" charset="-120"/>
              </a:rPr>
              <a:t>25 → 6</a:t>
            </a:r>
            <a:endParaRPr lang="en-US" sz="2600" dirty="0"/>
          </a:p>
        </p:txBody>
      </p:sp>
      <p:sp>
        <p:nvSpPr>
          <p:cNvPr id="10" name="Text 8"/>
          <p:cNvSpPr/>
          <p:nvPr/>
        </p:nvSpPr>
        <p:spPr>
          <a:xfrm>
            <a:off x="4572000" y="2404872"/>
            <a:ext cx="2971800" cy="274320"/>
          </a:xfrm>
          <a:prstGeom prst="rect">
            <a:avLst/>
          </a:prstGeom>
          <a:noFill/>
          <a:ln/>
        </p:spPr>
        <p:txBody>
          <a:bodyPr wrap="square" lIns="0" tIns="0" rIns="0" bIns="0" rtlCol="0" anchor="ctr"/>
          <a:lstStyle/>
          <a:p>
            <a:pPr marL="0" indent="0">
              <a:buNone/>
            </a:pPr>
            <a:r>
              <a:rPr lang="en-US" sz="1100" b="1" dirty="0">
                <a:solidFill>
                  <a:srgbClr val="10333A"/>
                </a:solidFill>
                <a:latin typeface="Calibri" pitchFamily="34" charset="0"/>
                <a:ea typeface="Calibri" pitchFamily="34" charset="-122"/>
                <a:cs typeface="Calibri" pitchFamily="34" charset="-120"/>
              </a:rPr>
              <a:t>payment spellings</a:t>
            </a:r>
            <a:endParaRPr lang="en-US" sz="1100" dirty="0"/>
          </a:p>
        </p:txBody>
      </p:sp>
      <p:sp>
        <p:nvSpPr>
          <p:cNvPr id="11" name="Text 9"/>
          <p:cNvSpPr/>
          <p:nvPr/>
        </p:nvSpPr>
        <p:spPr>
          <a:xfrm>
            <a:off x="4572000" y="2706624"/>
            <a:ext cx="2971800" cy="77724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"MTN MoMo", "momo", "MOMO" counted as separate methods. Any revenue-by-payment chart would be wrong.</a:t>
            </a:r>
            <a:endParaRPr lang="en-US" sz="950" dirty="0"/>
          </a:p>
        </p:txBody>
      </p:sp>
      <p:sp>
        <p:nvSpPr>
          <p:cNvPr id="12" name="Shape 10"/>
          <p:cNvSpPr/>
          <p:nvPr/>
        </p:nvSpPr>
        <p:spPr>
          <a:xfrm>
            <a:off x="8046720" y="1737360"/>
            <a:ext cx="3429000" cy="1874520"/>
          </a:xfrm>
          <a:prstGeom prst="roundRect">
            <a:avLst>
              <a:gd name="adj" fmla="val 2927"/>
            </a:avLst>
          </a:prstGeom>
          <a:solidFill>
            <a:srgbClr val="F1F7F7"/>
          </a:solidFill>
          <a:ln w="12700">
            <a:solidFill>
              <a:srgbClr val="F1F7F7"/>
            </a:solidFill>
            <a:prstDash val="solid"/>
          </a:ln>
        </p:spPr>
        <p:txBody>
          <a:bodyPr/>
          <a:lstStyle/>
          <a:p>
            <a:endParaRPr lang="en-US"/>
          </a:p>
        </p:txBody>
      </p:sp>
      <p:sp>
        <p:nvSpPr>
          <p:cNvPr id="13" name="Text 11"/>
          <p:cNvSpPr/>
          <p:nvPr/>
        </p:nvSpPr>
        <p:spPr>
          <a:xfrm>
            <a:off x="8275320" y="1883664"/>
            <a:ext cx="2971800" cy="548640"/>
          </a:xfrm>
          <a:prstGeom prst="rect">
            <a:avLst/>
          </a:prstGeom>
          <a:noFill/>
          <a:ln/>
        </p:spPr>
        <p:txBody>
          <a:bodyPr wrap="square" lIns="0" tIns="0" rIns="0" bIns="0" rtlCol="0" anchor="ctr"/>
          <a:lstStyle/>
          <a:p>
            <a:pPr marL="0" indent="0">
              <a:buNone/>
            </a:pPr>
            <a:r>
              <a:rPr lang="en-US" sz="2600" b="1" dirty="0">
                <a:solidFill>
                  <a:srgbClr val="C1462F"/>
                </a:solidFill>
                <a:latin typeface="Cambria" pitchFamily="34" charset="0"/>
                <a:ea typeface="Cambria" pitchFamily="34" charset="-122"/>
                <a:cs typeface="Cambria" pitchFamily="34" charset="-120"/>
              </a:rPr>
              <a:t>32.7%</a:t>
            </a:r>
            <a:endParaRPr lang="en-US" sz="2600" dirty="0"/>
          </a:p>
        </p:txBody>
      </p:sp>
      <p:sp>
        <p:nvSpPr>
          <p:cNvPr id="14" name="Text 12"/>
          <p:cNvSpPr/>
          <p:nvPr/>
        </p:nvSpPr>
        <p:spPr>
          <a:xfrm>
            <a:off x="8275320" y="2404872"/>
            <a:ext cx="2971800" cy="274320"/>
          </a:xfrm>
          <a:prstGeom prst="rect">
            <a:avLst/>
          </a:prstGeom>
          <a:noFill/>
          <a:ln/>
        </p:spPr>
        <p:txBody>
          <a:bodyPr wrap="square" lIns="0" tIns="0" rIns="0" bIns="0" rtlCol="0" anchor="ctr"/>
          <a:lstStyle/>
          <a:p>
            <a:pPr marL="0" indent="0">
              <a:buNone/>
            </a:pPr>
            <a:r>
              <a:rPr lang="en-US" sz="1100" b="1" dirty="0">
                <a:solidFill>
                  <a:srgbClr val="10333A"/>
                </a:solidFill>
                <a:latin typeface="Calibri" pitchFamily="34" charset="0"/>
                <a:ea typeface="Calibri" pitchFamily="34" charset="-122"/>
                <a:cs typeface="Calibri" pitchFamily="34" charset="-120"/>
              </a:rPr>
              <a:t>dates mis-parsed</a:t>
            </a:r>
            <a:endParaRPr lang="en-US" sz="1100" dirty="0"/>
          </a:p>
        </p:txBody>
      </p:sp>
      <p:sp>
        <p:nvSpPr>
          <p:cNvPr id="15" name="Text 13"/>
          <p:cNvSpPr/>
          <p:nvPr/>
        </p:nvSpPr>
        <p:spPr>
          <a:xfrm>
            <a:off x="8275320" y="2706624"/>
            <a:ext cx="2971800" cy="77724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The obvious parser silently reads 2024-07-11 as 7 November. No error, no warning, just wrong.</a:t>
            </a:r>
            <a:endParaRPr lang="en-US" sz="950" dirty="0"/>
          </a:p>
        </p:txBody>
      </p:sp>
      <p:sp>
        <p:nvSpPr>
          <p:cNvPr id="16" name="Shape 14"/>
          <p:cNvSpPr/>
          <p:nvPr/>
        </p:nvSpPr>
        <p:spPr>
          <a:xfrm>
            <a:off x="640080" y="3840480"/>
            <a:ext cx="3429000" cy="1874520"/>
          </a:xfrm>
          <a:prstGeom prst="roundRect">
            <a:avLst>
              <a:gd name="adj" fmla="val 2927"/>
            </a:avLst>
          </a:prstGeom>
          <a:solidFill>
            <a:srgbClr val="F1F7F7"/>
          </a:solidFill>
          <a:ln w="12700">
            <a:solidFill>
              <a:srgbClr val="F1F7F7"/>
            </a:solidFill>
            <a:prstDash val="solid"/>
          </a:ln>
        </p:spPr>
        <p:txBody>
          <a:bodyPr/>
          <a:lstStyle/>
          <a:p>
            <a:endParaRPr lang="en-US"/>
          </a:p>
        </p:txBody>
      </p:sp>
      <p:sp>
        <p:nvSpPr>
          <p:cNvPr id="17" name="Text 15"/>
          <p:cNvSpPr/>
          <p:nvPr/>
        </p:nvSpPr>
        <p:spPr>
          <a:xfrm>
            <a:off x="868680" y="3986784"/>
            <a:ext cx="2971800" cy="548640"/>
          </a:xfrm>
          <a:prstGeom prst="rect">
            <a:avLst/>
          </a:prstGeom>
          <a:noFill/>
          <a:ln/>
        </p:spPr>
        <p:txBody>
          <a:bodyPr wrap="square" lIns="0" tIns="0" rIns="0" bIns="0" rtlCol="0" anchor="ctr"/>
          <a:lstStyle/>
          <a:p>
            <a:pPr marL="0" indent="0">
              <a:buNone/>
            </a:pPr>
            <a:r>
              <a:rPr lang="en-US" sz="2600" b="1" dirty="0">
                <a:solidFill>
                  <a:srgbClr val="028090"/>
                </a:solidFill>
                <a:latin typeface="Cambria" pitchFamily="34" charset="0"/>
                <a:ea typeface="Cambria" pitchFamily="34" charset="-122"/>
                <a:cs typeface="Cambria" pitchFamily="34" charset="-120"/>
              </a:rPr>
              <a:t>3 kinds</a:t>
            </a:r>
            <a:endParaRPr lang="en-US" sz="2600" dirty="0"/>
          </a:p>
        </p:txBody>
      </p:sp>
      <p:sp>
        <p:nvSpPr>
          <p:cNvPr id="18" name="Text 16"/>
          <p:cNvSpPr/>
          <p:nvPr/>
        </p:nvSpPr>
        <p:spPr>
          <a:xfrm>
            <a:off x="868680" y="4507992"/>
            <a:ext cx="2971800" cy="274320"/>
          </a:xfrm>
          <a:prstGeom prst="rect">
            <a:avLst/>
          </a:prstGeom>
          <a:noFill/>
          <a:ln/>
        </p:spPr>
        <p:txBody>
          <a:bodyPr wrap="square" lIns="0" tIns="0" rIns="0" bIns="0" rtlCol="0" anchor="ctr"/>
          <a:lstStyle/>
          <a:p>
            <a:pPr marL="0" indent="0">
              <a:buNone/>
            </a:pPr>
            <a:r>
              <a:rPr lang="en-US" sz="1100" b="1" dirty="0">
                <a:solidFill>
                  <a:srgbClr val="10333A"/>
                </a:solidFill>
                <a:latin typeface="Calibri" pitchFamily="34" charset="0"/>
                <a:ea typeface="Calibri" pitchFamily="34" charset="-122"/>
                <a:cs typeface="Calibri" pitchFamily="34" charset="-120"/>
              </a:rPr>
              <a:t>of missing value</a:t>
            </a:r>
            <a:endParaRPr lang="en-US" sz="1100" dirty="0"/>
          </a:p>
        </p:txBody>
      </p:sp>
      <p:sp>
        <p:nvSpPr>
          <p:cNvPr id="19" name="Text 17"/>
          <p:cNvSpPr/>
          <p:nvPr/>
        </p:nvSpPr>
        <p:spPr>
          <a:xfrm>
            <a:off x="868680" y="4809744"/>
            <a:ext cx="2971800" cy="77724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Real nulls, empty strings, and the literal text "N/A" , all in one column.</a:t>
            </a:r>
            <a:endParaRPr lang="en-US" sz="950" dirty="0"/>
          </a:p>
        </p:txBody>
      </p:sp>
      <p:sp>
        <p:nvSpPr>
          <p:cNvPr id="20" name="Shape 18"/>
          <p:cNvSpPr/>
          <p:nvPr/>
        </p:nvSpPr>
        <p:spPr>
          <a:xfrm>
            <a:off x="4343400" y="3840480"/>
            <a:ext cx="3429000" cy="1874520"/>
          </a:xfrm>
          <a:prstGeom prst="roundRect">
            <a:avLst>
              <a:gd name="adj" fmla="val 2927"/>
            </a:avLst>
          </a:prstGeom>
          <a:solidFill>
            <a:srgbClr val="F1F7F7"/>
          </a:solidFill>
          <a:ln w="12700">
            <a:solidFill>
              <a:srgbClr val="F1F7F7"/>
            </a:solidFill>
            <a:prstDash val="solid"/>
          </a:ln>
        </p:spPr>
        <p:txBody>
          <a:bodyPr/>
          <a:lstStyle/>
          <a:p>
            <a:endParaRPr lang="en-US"/>
          </a:p>
        </p:txBody>
      </p:sp>
      <p:sp>
        <p:nvSpPr>
          <p:cNvPr id="21" name="Text 19"/>
          <p:cNvSpPr/>
          <p:nvPr/>
        </p:nvSpPr>
        <p:spPr>
          <a:xfrm>
            <a:off x="4572000" y="3986784"/>
            <a:ext cx="2971800" cy="548640"/>
          </a:xfrm>
          <a:prstGeom prst="rect">
            <a:avLst/>
          </a:prstGeom>
          <a:noFill/>
          <a:ln/>
        </p:spPr>
        <p:txBody>
          <a:bodyPr wrap="square" lIns="0" tIns="0" rIns="0" bIns="0" rtlCol="0" anchor="ctr"/>
          <a:lstStyle/>
          <a:p>
            <a:pPr marL="0" indent="0">
              <a:buNone/>
            </a:pPr>
            <a:r>
              <a:rPr lang="en-US" sz="2600" b="1" dirty="0">
                <a:solidFill>
                  <a:srgbClr val="D9A404"/>
                </a:solidFill>
                <a:latin typeface="Cambria" pitchFamily="34" charset="0"/>
                <a:ea typeface="Cambria" pitchFamily="34" charset="-122"/>
                <a:cs typeface="Cambria" pitchFamily="34" charset="-120"/>
              </a:rPr>
              <a:t>401</a:t>
            </a:r>
            <a:endParaRPr lang="en-US" sz="2600" dirty="0"/>
          </a:p>
        </p:txBody>
      </p:sp>
      <p:sp>
        <p:nvSpPr>
          <p:cNvPr id="22" name="Text 20"/>
          <p:cNvSpPr/>
          <p:nvPr/>
        </p:nvSpPr>
        <p:spPr>
          <a:xfrm>
            <a:off x="4572000" y="4507992"/>
            <a:ext cx="2971800" cy="274320"/>
          </a:xfrm>
          <a:prstGeom prst="rect">
            <a:avLst/>
          </a:prstGeom>
          <a:noFill/>
          <a:ln/>
        </p:spPr>
        <p:txBody>
          <a:bodyPr wrap="square" lIns="0" tIns="0" rIns="0" bIns="0" rtlCol="0" anchor="ctr"/>
          <a:lstStyle/>
          <a:p>
            <a:pPr marL="0" indent="0">
              <a:buNone/>
            </a:pPr>
            <a:r>
              <a:rPr lang="en-US" sz="1100" b="1" dirty="0">
                <a:solidFill>
                  <a:srgbClr val="10333A"/>
                </a:solidFill>
                <a:latin typeface="Calibri" pitchFamily="34" charset="0"/>
                <a:ea typeface="Calibri" pitchFamily="34" charset="-122"/>
                <a:cs typeface="Calibri" pitchFamily="34" charset="-120"/>
              </a:rPr>
              <a:t>impossible orders</a:t>
            </a:r>
            <a:endParaRPr lang="en-US" sz="1100" dirty="0"/>
          </a:p>
        </p:txBody>
      </p:sp>
      <p:sp>
        <p:nvSpPr>
          <p:cNvPr id="23" name="Text 21"/>
          <p:cNvSpPr/>
          <p:nvPr/>
        </p:nvSpPr>
        <p:spPr>
          <a:xfrm>
            <a:off x="4572000" y="4809744"/>
            <a:ext cx="2971800" cy="77724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Orders dated before the customer signed up. A referential violation, not a typo.</a:t>
            </a:r>
            <a:endParaRPr lang="en-US" sz="950" dirty="0"/>
          </a:p>
        </p:txBody>
      </p:sp>
      <p:sp>
        <p:nvSpPr>
          <p:cNvPr id="24" name="Shape 22"/>
          <p:cNvSpPr/>
          <p:nvPr/>
        </p:nvSpPr>
        <p:spPr>
          <a:xfrm>
            <a:off x="8046720" y="3840480"/>
            <a:ext cx="3429000" cy="1874520"/>
          </a:xfrm>
          <a:prstGeom prst="roundRect">
            <a:avLst>
              <a:gd name="adj" fmla="val 2927"/>
            </a:avLst>
          </a:prstGeom>
          <a:solidFill>
            <a:srgbClr val="F1F7F7"/>
          </a:solidFill>
          <a:ln w="12700">
            <a:solidFill>
              <a:srgbClr val="F1F7F7"/>
            </a:solidFill>
            <a:prstDash val="solid"/>
          </a:ln>
        </p:spPr>
        <p:txBody>
          <a:bodyPr/>
          <a:lstStyle/>
          <a:p>
            <a:endParaRPr lang="en-US"/>
          </a:p>
        </p:txBody>
      </p:sp>
      <p:sp>
        <p:nvSpPr>
          <p:cNvPr id="25" name="Text 23"/>
          <p:cNvSpPr/>
          <p:nvPr/>
        </p:nvSpPr>
        <p:spPr>
          <a:xfrm>
            <a:off x="8275320" y="3986784"/>
            <a:ext cx="2971800" cy="548640"/>
          </a:xfrm>
          <a:prstGeom prst="rect">
            <a:avLst/>
          </a:prstGeom>
          <a:noFill/>
          <a:ln/>
        </p:spPr>
        <p:txBody>
          <a:bodyPr wrap="square" lIns="0" tIns="0" rIns="0" bIns="0" rtlCol="0" anchor="ctr"/>
          <a:lstStyle/>
          <a:p>
            <a:pPr marL="0" indent="0">
              <a:buNone/>
            </a:pPr>
            <a:r>
              <a:rPr lang="en-US" sz="2600" b="1" dirty="0">
                <a:solidFill>
                  <a:srgbClr val="028090"/>
                </a:solidFill>
                <a:latin typeface="Cambria" pitchFamily="34" charset="0"/>
                <a:ea typeface="Cambria" pitchFamily="34" charset="-122"/>
                <a:cs typeface="Cambria" pitchFamily="34" charset="-120"/>
              </a:rPr>
              <a:t>300</a:t>
            </a:r>
            <a:endParaRPr lang="en-US" sz="2600" dirty="0"/>
          </a:p>
        </p:txBody>
      </p:sp>
      <p:sp>
        <p:nvSpPr>
          <p:cNvPr id="26" name="Text 24"/>
          <p:cNvSpPr/>
          <p:nvPr/>
        </p:nvSpPr>
        <p:spPr>
          <a:xfrm>
            <a:off x="8275320" y="4507992"/>
            <a:ext cx="2971800" cy="274320"/>
          </a:xfrm>
          <a:prstGeom prst="rect">
            <a:avLst/>
          </a:prstGeom>
          <a:noFill/>
          <a:ln/>
        </p:spPr>
        <p:txBody>
          <a:bodyPr wrap="square" lIns="0" tIns="0" rIns="0" bIns="0" rtlCol="0" anchor="ctr"/>
          <a:lstStyle/>
          <a:p>
            <a:pPr marL="0" indent="0">
              <a:buNone/>
            </a:pPr>
            <a:r>
              <a:rPr lang="en-US" sz="1100" b="1" dirty="0">
                <a:solidFill>
                  <a:srgbClr val="10333A"/>
                </a:solidFill>
                <a:latin typeface="Calibri" pitchFamily="34" charset="0"/>
                <a:ea typeface="Calibri" pitchFamily="34" charset="-122"/>
                <a:cs typeface="Calibri" pitchFamily="34" charset="-120"/>
              </a:rPr>
              <a:t>duplicate people</a:t>
            </a:r>
            <a:endParaRPr lang="en-US" sz="1100" dirty="0"/>
          </a:p>
        </p:txBody>
      </p:sp>
      <p:sp>
        <p:nvSpPr>
          <p:cNvPr id="27" name="Text 25"/>
          <p:cNvSpPr/>
          <p:nvPr/>
        </p:nvSpPr>
        <p:spPr>
          <a:xfrm>
            <a:off x="8275320" y="4809744"/>
            <a:ext cx="2971800" cy="77724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Same human, new customer_id. Exact de-duplication cannot catch these.</a:t>
            </a:r>
            <a:endParaRPr lang="en-US" sz="950" dirty="0"/>
          </a:p>
        </p:txBody>
      </p:sp>
      <p:sp>
        <p:nvSpPr>
          <p:cNvPr id="28" name="Text 26"/>
          <p:cNvSpPr/>
          <p:nvPr/>
        </p:nvSpPr>
        <p:spPr>
          <a:xfrm>
            <a:off x="640080" y="6053328"/>
            <a:ext cx="10881360" cy="36576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Cleaning: 281,569 corrections, fully audited</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Every step logs what it changed and how many rows it touched</a:t>
            </a:r>
            <a:endParaRPr lang="en-US" sz="1350" dirty="0"/>
          </a:p>
        </p:txBody>
      </p:sp>
      <p:sp>
        <p:nvSpPr>
          <p:cNvPr id="4" name="Text 2"/>
          <p:cNvSpPr/>
          <p:nvPr/>
        </p:nvSpPr>
        <p:spPr>
          <a:xfrm>
            <a:off x="640080" y="1783080"/>
            <a:ext cx="2514600" cy="731520"/>
          </a:xfrm>
          <a:prstGeom prst="rect">
            <a:avLst/>
          </a:prstGeom>
          <a:noFill/>
          <a:ln/>
        </p:spPr>
        <p:txBody>
          <a:bodyPr wrap="square" lIns="0" tIns="0" rIns="0" bIns="0" rtlCol="0" anchor="ctr"/>
          <a:lstStyle/>
          <a:p>
            <a:pPr marL="0" indent="0" algn="ctr">
              <a:buNone/>
            </a:pPr>
            <a:r>
              <a:rPr lang="en-US" sz="4200" b="1" dirty="0">
                <a:solidFill>
                  <a:srgbClr val="028090"/>
                </a:solidFill>
                <a:latin typeface="Cambria" pitchFamily="34" charset="0"/>
                <a:ea typeface="Cambria" pitchFamily="34" charset="-122"/>
                <a:cs typeface="Cambria" pitchFamily="34" charset="-120"/>
              </a:rPr>
              <a:t>281,569</a:t>
            </a:r>
            <a:endParaRPr lang="en-US" sz="4200" dirty="0"/>
          </a:p>
        </p:txBody>
      </p:sp>
      <p:sp>
        <p:nvSpPr>
          <p:cNvPr id="5" name="Text 3"/>
          <p:cNvSpPr/>
          <p:nvPr/>
        </p:nvSpPr>
        <p:spPr>
          <a:xfrm>
            <a:off x="640080" y="2514600"/>
            <a:ext cx="251460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CORRECTIONS APPLIED</a:t>
            </a:r>
            <a:endParaRPr lang="en-US" sz="1050" dirty="0"/>
          </a:p>
        </p:txBody>
      </p:sp>
      <p:sp>
        <p:nvSpPr>
          <p:cNvPr id="6" name="Text 4"/>
          <p:cNvSpPr/>
          <p:nvPr/>
        </p:nvSpPr>
        <p:spPr>
          <a:xfrm>
            <a:off x="3337560" y="1783080"/>
            <a:ext cx="2514600" cy="731520"/>
          </a:xfrm>
          <a:prstGeom prst="rect">
            <a:avLst/>
          </a:prstGeom>
          <a:noFill/>
          <a:ln/>
        </p:spPr>
        <p:txBody>
          <a:bodyPr wrap="square" lIns="0" tIns="0" rIns="0" bIns="0" rtlCol="0" anchor="ctr"/>
          <a:lstStyle/>
          <a:p>
            <a:pPr marL="0" indent="0" algn="ctr">
              <a:buNone/>
            </a:pPr>
            <a:r>
              <a:rPr lang="en-US" sz="4200" b="1" dirty="0">
                <a:solidFill>
                  <a:srgbClr val="00A896"/>
                </a:solidFill>
                <a:latin typeface="Cambria" pitchFamily="34" charset="0"/>
                <a:ea typeface="Cambria" pitchFamily="34" charset="-122"/>
                <a:cs typeface="Cambria" pitchFamily="34" charset="-120"/>
              </a:rPr>
              <a:t>13,340</a:t>
            </a:r>
            <a:endParaRPr lang="en-US" sz="4200" dirty="0"/>
          </a:p>
        </p:txBody>
      </p:sp>
      <p:sp>
        <p:nvSpPr>
          <p:cNvPr id="7" name="Text 5"/>
          <p:cNvSpPr/>
          <p:nvPr/>
        </p:nvSpPr>
        <p:spPr>
          <a:xfrm>
            <a:off x="3337560" y="2514600"/>
            <a:ext cx="251460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DUPLICATE ROWS REMOVED</a:t>
            </a:r>
            <a:endParaRPr lang="en-US" sz="1050" dirty="0"/>
          </a:p>
        </p:txBody>
      </p:sp>
      <p:sp>
        <p:nvSpPr>
          <p:cNvPr id="8" name="Text 6"/>
          <p:cNvSpPr/>
          <p:nvPr/>
        </p:nvSpPr>
        <p:spPr>
          <a:xfrm>
            <a:off x="6035040" y="1783080"/>
            <a:ext cx="2514600" cy="731520"/>
          </a:xfrm>
          <a:prstGeom prst="rect">
            <a:avLst/>
          </a:prstGeom>
          <a:noFill/>
          <a:ln/>
        </p:spPr>
        <p:txBody>
          <a:bodyPr wrap="square" lIns="0" tIns="0" rIns="0" bIns="0" rtlCol="0" anchor="ctr"/>
          <a:lstStyle/>
          <a:p>
            <a:pPr marL="0" indent="0" algn="ctr">
              <a:buNone/>
            </a:pPr>
            <a:r>
              <a:rPr lang="en-US" sz="4200" b="1" dirty="0">
                <a:solidFill>
                  <a:srgbClr val="02C39A"/>
                </a:solidFill>
                <a:latin typeface="Cambria" pitchFamily="34" charset="0"/>
                <a:ea typeface="Cambria" pitchFamily="34" charset="-122"/>
                <a:cs typeface="Cambria" pitchFamily="34" charset="-120"/>
              </a:rPr>
              <a:t>6</a:t>
            </a:r>
            <a:endParaRPr lang="en-US" sz="4200" dirty="0"/>
          </a:p>
        </p:txBody>
      </p:sp>
      <p:sp>
        <p:nvSpPr>
          <p:cNvPr id="9" name="Text 7"/>
          <p:cNvSpPr/>
          <p:nvPr/>
        </p:nvSpPr>
        <p:spPr>
          <a:xfrm>
            <a:off x="6035040" y="2514600"/>
            <a:ext cx="251460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TABLES RECONCILED</a:t>
            </a:r>
            <a:endParaRPr lang="en-US" sz="1050" dirty="0"/>
          </a:p>
        </p:txBody>
      </p:sp>
      <p:sp>
        <p:nvSpPr>
          <p:cNvPr id="10" name="Text 8"/>
          <p:cNvSpPr/>
          <p:nvPr/>
        </p:nvSpPr>
        <p:spPr>
          <a:xfrm>
            <a:off x="8732520" y="1783080"/>
            <a:ext cx="2514600" cy="731520"/>
          </a:xfrm>
          <a:prstGeom prst="rect">
            <a:avLst/>
          </a:prstGeom>
          <a:noFill/>
          <a:ln/>
        </p:spPr>
        <p:txBody>
          <a:bodyPr wrap="square" lIns="0" tIns="0" rIns="0" bIns="0" rtlCol="0" anchor="ctr"/>
          <a:lstStyle/>
          <a:p>
            <a:pPr marL="0" indent="0" algn="ctr">
              <a:buNone/>
            </a:pPr>
            <a:r>
              <a:rPr lang="en-US" sz="4200" b="1" dirty="0">
                <a:solidFill>
                  <a:srgbClr val="028090"/>
                </a:solidFill>
                <a:latin typeface="Cambria" pitchFamily="34" charset="0"/>
                <a:ea typeface="Cambria" pitchFamily="34" charset="-122"/>
                <a:cs typeface="Cambria" pitchFamily="34" charset="-120"/>
              </a:rPr>
              <a:t>100%</a:t>
            </a:r>
            <a:endParaRPr lang="en-US" sz="4200" dirty="0"/>
          </a:p>
        </p:txBody>
      </p:sp>
      <p:sp>
        <p:nvSpPr>
          <p:cNvPr id="11" name="Text 9"/>
          <p:cNvSpPr/>
          <p:nvPr/>
        </p:nvSpPr>
        <p:spPr>
          <a:xfrm>
            <a:off x="8732520" y="2514600"/>
            <a:ext cx="251460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STEPS LOGGED</a:t>
            </a:r>
            <a:endParaRPr lang="en-US" sz="1050" dirty="0"/>
          </a:p>
        </p:txBody>
      </p:sp>
      <p:sp>
        <p:nvSpPr>
          <p:cNvPr id="12" name="Shape 10"/>
          <p:cNvSpPr/>
          <p:nvPr/>
        </p:nvSpPr>
        <p:spPr>
          <a:xfrm>
            <a:off x="640080" y="3246120"/>
            <a:ext cx="10881360" cy="2651760"/>
          </a:xfrm>
          <a:prstGeom prst="roundRect">
            <a:avLst>
              <a:gd name="adj" fmla="val 2069"/>
            </a:avLst>
          </a:prstGeom>
          <a:solidFill>
            <a:srgbClr val="F1F7F7"/>
          </a:solidFill>
          <a:ln w="12700">
            <a:solidFill>
              <a:srgbClr val="F1F7F7"/>
            </a:solidFill>
            <a:prstDash val="solid"/>
          </a:ln>
        </p:spPr>
        <p:txBody>
          <a:bodyPr/>
          <a:lstStyle/>
          <a:p>
            <a:endParaRPr lang="en-US"/>
          </a:p>
        </p:txBody>
      </p:sp>
      <p:sp>
        <p:nvSpPr>
          <p:cNvPr id="13" name="Text 11"/>
          <p:cNvSpPr/>
          <p:nvPr/>
        </p:nvSpPr>
        <p:spPr>
          <a:xfrm>
            <a:off x="914400" y="3410712"/>
            <a:ext cx="4572000" cy="320040"/>
          </a:xfrm>
          <a:prstGeom prst="rect">
            <a:avLst/>
          </a:prstGeom>
          <a:noFill/>
          <a:ln/>
        </p:spPr>
        <p:txBody>
          <a:bodyPr wrap="square" lIns="0" tIns="0" rIns="0" bIns="0" rtlCol="0" anchor="ctr"/>
          <a:lstStyle/>
          <a:p>
            <a:pPr marL="0" indent="0">
              <a:buNone/>
            </a:pPr>
            <a:r>
              <a:rPr lang="en-US" sz="1350" b="1" dirty="0">
                <a:solidFill>
                  <a:srgbClr val="10333A"/>
                </a:solidFill>
                <a:latin typeface="Calibri" pitchFamily="34" charset="0"/>
                <a:ea typeface="Calibri" pitchFamily="34" charset="-122"/>
                <a:cs typeface="Calibri" pitchFamily="34" charset="-120"/>
              </a:rPr>
              <a:t>Principles applied</a:t>
            </a:r>
            <a:endParaRPr lang="en-US" sz="1350" dirty="0"/>
          </a:p>
        </p:txBody>
      </p:sp>
      <p:sp>
        <p:nvSpPr>
          <p:cNvPr id="14" name="Shape 12"/>
          <p:cNvSpPr/>
          <p:nvPr/>
        </p:nvSpPr>
        <p:spPr>
          <a:xfrm>
            <a:off x="914400" y="3858768"/>
            <a:ext cx="237744" cy="237744"/>
          </a:xfrm>
          <a:prstGeom prst="ellipse">
            <a:avLst/>
          </a:prstGeom>
          <a:solidFill>
            <a:srgbClr val="00A896"/>
          </a:solidFill>
          <a:ln/>
        </p:spPr>
        <p:txBody>
          <a:bodyPr/>
          <a:lstStyle/>
          <a:p>
            <a:endParaRPr lang="en-US"/>
          </a:p>
        </p:txBody>
      </p:sp>
      <p:sp>
        <p:nvSpPr>
          <p:cNvPr id="15" name="Text 13"/>
          <p:cNvSpPr/>
          <p:nvPr/>
        </p:nvSpPr>
        <p:spPr>
          <a:xfrm>
            <a:off x="1298448" y="3803904"/>
            <a:ext cx="475488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Recover, don't impute</a:t>
            </a:r>
            <a:endParaRPr lang="en-US" sz="1200" dirty="0"/>
          </a:p>
        </p:txBody>
      </p:sp>
      <p:sp>
        <p:nvSpPr>
          <p:cNvPr id="16" name="Text 14"/>
          <p:cNvSpPr/>
          <p:nvPr/>
        </p:nvSpPr>
        <p:spPr>
          <a:xfrm>
            <a:off x="1298448" y="4096512"/>
            <a:ext cx="4754880" cy="54864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Missing line prices were joined from the product catalogue, the real value, not a guess.</a:t>
            </a:r>
            <a:endParaRPr lang="en-US" sz="1000" dirty="0"/>
          </a:p>
        </p:txBody>
      </p:sp>
      <p:sp>
        <p:nvSpPr>
          <p:cNvPr id="17" name="Shape 15"/>
          <p:cNvSpPr/>
          <p:nvPr/>
        </p:nvSpPr>
        <p:spPr>
          <a:xfrm>
            <a:off x="6263640" y="3858768"/>
            <a:ext cx="237744" cy="237744"/>
          </a:xfrm>
          <a:prstGeom prst="ellipse">
            <a:avLst/>
          </a:prstGeom>
          <a:solidFill>
            <a:srgbClr val="00A896"/>
          </a:solidFill>
          <a:ln/>
        </p:spPr>
        <p:txBody>
          <a:bodyPr/>
          <a:lstStyle/>
          <a:p>
            <a:endParaRPr lang="en-US"/>
          </a:p>
        </p:txBody>
      </p:sp>
      <p:sp>
        <p:nvSpPr>
          <p:cNvPr id="18" name="Text 16"/>
          <p:cNvSpPr/>
          <p:nvPr/>
        </p:nvSpPr>
        <p:spPr>
          <a:xfrm>
            <a:off x="6647688" y="3803904"/>
            <a:ext cx="475488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Void, don't invent</a:t>
            </a:r>
            <a:endParaRPr lang="en-US" sz="1200" dirty="0"/>
          </a:p>
        </p:txBody>
      </p:sp>
      <p:sp>
        <p:nvSpPr>
          <p:cNvPr id="19" name="Text 17"/>
          <p:cNvSpPr/>
          <p:nvPr/>
        </p:nvSpPr>
        <p:spPr>
          <a:xfrm>
            <a:off x="6647688" y="4096512"/>
            <a:ext cx="4754880" cy="54864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A 1899 birthday is wrong but unknowable. It becomes null; the row survives.</a:t>
            </a:r>
            <a:endParaRPr lang="en-US" sz="1000" dirty="0"/>
          </a:p>
        </p:txBody>
      </p:sp>
      <p:sp>
        <p:nvSpPr>
          <p:cNvPr id="20" name="Shape 18"/>
          <p:cNvSpPr/>
          <p:nvPr/>
        </p:nvSpPr>
        <p:spPr>
          <a:xfrm>
            <a:off x="914400" y="4818888"/>
            <a:ext cx="237744" cy="237744"/>
          </a:xfrm>
          <a:prstGeom prst="ellipse">
            <a:avLst/>
          </a:prstGeom>
          <a:solidFill>
            <a:srgbClr val="00A896"/>
          </a:solidFill>
          <a:ln/>
        </p:spPr>
        <p:txBody>
          <a:bodyPr/>
          <a:lstStyle/>
          <a:p>
            <a:endParaRPr lang="en-US"/>
          </a:p>
        </p:txBody>
      </p:sp>
      <p:sp>
        <p:nvSpPr>
          <p:cNvPr id="21" name="Text 19"/>
          <p:cNvSpPr/>
          <p:nvPr/>
        </p:nvSpPr>
        <p:spPr>
          <a:xfrm>
            <a:off x="1298448" y="4764024"/>
            <a:ext cx="475488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Consolidate, don't delete</a:t>
            </a:r>
            <a:endParaRPr lang="en-US" sz="1200" dirty="0"/>
          </a:p>
        </p:txBody>
      </p:sp>
      <p:sp>
        <p:nvSpPr>
          <p:cNvPr id="22" name="Text 20"/>
          <p:cNvSpPr/>
          <p:nvPr/>
        </p:nvSpPr>
        <p:spPr>
          <a:xfrm>
            <a:off x="1298448" y="5056632"/>
            <a:ext cx="4754880" cy="54864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Duplicate accounts were merged and their order history re-pointed, not discarded.</a:t>
            </a:r>
            <a:endParaRPr lang="en-US" sz="1000" dirty="0"/>
          </a:p>
        </p:txBody>
      </p:sp>
      <p:sp>
        <p:nvSpPr>
          <p:cNvPr id="23" name="Shape 21"/>
          <p:cNvSpPr/>
          <p:nvPr/>
        </p:nvSpPr>
        <p:spPr>
          <a:xfrm>
            <a:off x="6263640" y="4818888"/>
            <a:ext cx="237744" cy="237744"/>
          </a:xfrm>
          <a:prstGeom prst="ellipse">
            <a:avLst/>
          </a:prstGeom>
          <a:solidFill>
            <a:srgbClr val="00A896"/>
          </a:solidFill>
          <a:ln/>
        </p:spPr>
        <p:txBody>
          <a:bodyPr/>
          <a:lstStyle/>
          <a:p>
            <a:endParaRPr lang="en-US"/>
          </a:p>
        </p:txBody>
      </p:sp>
      <p:sp>
        <p:nvSpPr>
          <p:cNvPr id="24" name="Text 22"/>
          <p:cNvSpPr/>
          <p:nvPr/>
        </p:nvSpPr>
        <p:spPr>
          <a:xfrm>
            <a:off x="6647688" y="4764024"/>
            <a:ext cx="475488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Log everything</a:t>
            </a:r>
            <a:endParaRPr lang="en-US" sz="1200" dirty="0"/>
          </a:p>
        </p:txBody>
      </p:sp>
      <p:sp>
        <p:nvSpPr>
          <p:cNvPr id="25" name="Text 23"/>
          <p:cNvSpPr/>
          <p:nvPr/>
        </p:nvSpPr>
        <p:spPr>
          <a:xfrm>
            <a:off x="6647688" y="5056632"/>
            <a:ext cx="4754880" cy="54864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Cleaning silently mutates data. An audit trail makes it reviewable rather than trusted.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333A"/>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Avoiding target leakage</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C39A"/>
                </a:solidFill>
                <a:latin typeface="Calibri" pitchFamily="34" charset="0"/>
                <a:ea typeface="Calibri" pitchFamily="34" charset="-122"/>
                <a:cs typeface="Calibri" pitchFamily="34" charset="-120"/>
              </a:rPr>
              <a:t>The single most important design decision in the project</a:t>
            </a:r>
            <a:endParaRPr lang="en-US" sz="1350" dirty="0"/>
          </a:p>
        </p:txBody>
      </p:sp>
      <p:sp>
        <p:nvSpPr>
          <p:cNvPr id="4" name="Text 2"/>
          <p:cNvSpPr/>
          <p:nvPr/>
        </p:nvSpPr>
        <p:spPr>
          <a:xfrm>
            <a:off x="640080" y="1645920"/>
            <a:ext cx="5120640" cy="320040"/>
          </a:xfrm>
          <a:prstGeom prst="rect">
            <a:avLst/>
          </a:prstGeom>
          <a:noFill/>
          <a:ln/>
        </p:spPr>
        <p:txBody>
          <a:bodyPr wrap="square" lIns="0" tIns="0" rIns="0" bIns="0" rtlCol="0" anchor="ctr"/>
          <a:lstStyle/>
          <a:p>
            <a:pPr marL="0" indent="0">
              <a:buNone/>
            </a:pPr>
            <a:r>
              <a:rPr lang="en-US" sz="1350" b="1" dirty="0">
                <a:solidFill>
                  <a:srgbClr val="C1462F"/>
                </a:solidFill>
                <a:latin typeface="Calibri" pitchFamily="34" charset="0"/>
                <a:ea typeface="Calibri" pitchFamily="34" charset="-122"/>
                <a:cs typeface="Calibri" pitchFamily="34" charset="-120"/>
              </a:rPr>
              <a:t>The trap</a:t>
            </a:r>
            <a:endParaRPr lang="en-US" sz="1350" dirty="0"/>
          </a:p>
        </p:txBody>
      </p:sp>
      <p:sp>
        <p:nvSpPr>
          <p:cNvPr id="5" name="Text 3"/>
          <p:cNvSpPr/>
          <p:nvPr/>
        </p:nvSpPr>
        <p:spPr>
          <a:xfrm>
            <a:off x="640080" y="1828800"/>
            <a:ext cx="5120640" cy="1371600"/>
          </a:xfrm>
          <a:prstGeom prst="rect">
            <a:avLst/>
          </a:prstGeom>
          <a:noFill/>
          <a:ln/>
        </p:spPr>
        <p:txBody>
          <a:bodyPr wrap="square" lIns="0" tIns="0" rIns="0" bIns="0" rtlCol="0" anchor="ctr"/>
          <a:lstStyle/>
          <a:p>
            <a:pPr marL="0" indent="0">
              <a:buNone/>
            </a:pPr>
            <a:r>
              <a:rPr lang="en-US" sz="1200" dirty="0">
                <a:solidFill>
                  <a:srgbClr val="D6E6E8"/>
                </a:solidFill>
                <a:latin typeface="Calibri" pitchFamily="34" charset="0"/>
                <a:ea typeface="Calibri" pitchFamily="34" charset="-122"/>
                <a:cs typeface="Calibri" pitchFamily="34" charset="-120"/>
              </a:rPr>
              <a:t>Build features from all 18 months, then label churn as "no purchase in the last 90 days." Recency then IS the label. The model scores ~0.99 AUC and is useless at prediction time when you do not know the future.</a:t>
            </a:r>
            <a:endParaRPr lang="en-US" sz="1200" dirty="0"/>
          </a:p>
        </p:txBody>
      </p:sp>
      <p:sp>
        <p:nvSpPr>
          <p:cNvPr id="6" name="Text 4"/>
          <p:cNvSpPr/>
          <p:nvPr/>
        </p:nvSpPr>
        <p:spPr>
          <a:xfrm>
            <a:off x="640080" y="3566160"/>
            <a:ext cx="5120640" cy="320040"/>
          </a:xfrm>
          <a:prstGeom prst="rect">
            <a:avLst/>
          </a:prstGeom>
          <a:noFill/>
          <a:ln/>
        </p:spPr>
        <p:txBody>
          <a:bodyPr wrap="square" lIns="0" tIns="0" rIns="0" bIns="0" rtlCol="0" anchor="ctr"/>
          <a:lstStyle/>
          <a:p>
            <a:pPr marL="0" indent="0">
              <a:buNone/>
            </a:pPr>
            <a:r>
              <a:rPr lang="en-US" sz="1350" b="1" dirty="0">
                <a:solidFill>
                  <a:srgbClr val="02C39A"/>
                </a:solidFill>
                <a:latin typeface="Calibri" pitchFamily="34" charset="0"/>
                <a:ea typeface="Calibri" pitchFamily="34" charset="-122"/>
                <a:cs typeface="Calibri" pitchFamily="34" charset="-120"/>
              </a:rPr>
              <a:t>The fix</a:t>
            </a:r>
            <a:endParaRPr lang="en-US" sz="1350" dirty="0"/>
          </a:p>
        </p:txBody>
      </p:sp>
      <p:sp>
        <p:nvSpPr>
          <p:cNvPr id="7" name="Text 5"/>
          <p:cNvSpPr/>
          <p:nvPr/>
        </p:nvSpPr>
        <p:spPr>
          <a:xfrm>
            <a:off x="640080" y="3657600"/>
            <a:ext cx="5120640" cy="1280160"/>
          </a:xfrm>
          <a:prstGeom prst="rect">
            <a:avLst/>
          </a:prstGeom>
          <a:noFill/>
          <a:ln/>
        </p:spPr>
        <p:txBody>
          <a:bodyPr wrap="square" lIns="0" tIns="0" rIns="0" bIns="0" rtlCol="0" anchor="ctr"/>
          <a:lstStyle/>
          <a:p>
            <a:pPr marL="0" indent="0">
              <a:buNone/>
            </a:pPr>
            <a:r>
              <a:rPr lang="en-US" sz="1200" dirty="0">
                <a:solidFill>
                  <a:srgbClr val="D6E6E8"/>
                </a:solidFill>
                <a:latin typeface="Calibri" pitchFamily="34" charset="0"/>
                <a:ea typeface="Calibri" pitchFamily="34" charset="-122"/>
                <a:cs typeface="Calibri" pitchFamily="34" charset="-120"/>
              </a:rPr>
              <a:t>Split the timeline. Features come only from before the cutoff; the label comes only from the 90 days after it. Recency measured at the cutoff is now honest showing exactly what a live system would know.</a:t>
            </a:r>
            <a:endParaRPr lang="en-US" sz="1200" dirty="0"/>
          </a:p>
        </p:txBody>
      </p:sp>
      <p:sp>
        <p:nvSpPr>
          <p:cNvPr id="8" name="Shape 6"/>
          <p:cNvSpPr/>
          <p:nvPr/>
        </p:nvSpPr>
        <p:spPr>
          <a:xfrm>
            <a:off x="6126480" y="1874520"/>
            <a:ext cx="5394960" cy="3017520"/>
          </a:xfrm>
          <a:prstGeom prst="roundRect">
            <a:avLst>
              <a:gd name="adj" fmla="val 1818"/>
            </a:avLst>
          </a:prstGeom>
          <a:solidFill>
            <a:srgbClr val="17414A"/>
          </a:solidFill>
          <a:ln w="12700">
            <a:solidFill>
              <a:srgbClr val="17414A"/>
            </a:solidFill>
            <a:prstDash val="solid"/>
          </a:ln>
        </p:spPr>
        <p:txBody>
          <a:bodyPr/>
          <a:lstStyle/>
          <a:p>
            <a:endParaRPr lang="en-US"/>
          </a:p>
        </p:txBody>
      </p:sp>
      <p:sp>
        <p:nvSpPr>
          <p:cNvPr id="9" name="Shape 7"/>
          <p:cNvSpPr/>
          <p:nvPr/>
        </p:nvSpPr>
        <p:spPr>
          <a:xfrm>
            <a:off x="6400800" y="2743200"/>
            <a:ext cx="3200400" cy="457200"/>
          </a:xfrm>
          <a:prstGeom prst="rect">
            <a:avLst/>
          </a:prstGeom>
          <a:solidFill>
            <a:srgbClr val="028090"/>
          </a:solidFill>
          <a:ln w="12700">
            <a:solidFill>
              <a:srgbClr val="028090"/>
            </a:solidFill>
            <a:prstDash val="solid"/>
          </a:ln>
        </p:spPr>
        <p:txBody>
          <a:bodyPr/>
          <a:lstStyle/>
          <a:p>
            <a:endParaRPr lang="en-US"/>
          </a:p>
        </p:txBody>
      </p:sp>
      <p:sp>
        <p:nvSpPr>
          <p:cNvPr id="10" name="Shape 8"/>
          <p:cNvSpPr/>
          <p:nvPr/>
        </p:nvSpPr>
        <p:spPr>
          <a:xfrm>
            <a:off x="9601200" y="2743200"/>
            <a:ext cx="1645920" cy="457200"/>
          </a:xfrm>
          <a:prstGeom prst="rect">
            <a:avLst/>
          </a:prstGeom>
          <a:solidFill>
            <a:srgbClr val="D9A404"/>
          </a:solidFill>
          <a:ln w="12700">
            <a:solidFill>
              <a:srgbClr val="D9A404"/>
            </a:solidFill>
            <a:prstDash val="solid"/>
          </a:ln>
        </p:spPr>
        <p:txBody>
          <a:bodyPr/>
          <a:lstStyle/>
          <a:p>
            <a:endParaRPr lang="en-US"/>
          </a:p>
        </p:txBody>
      </p:sp>
      <p:sp>
        <p:nvSpPr>
          <p:cNvPr id="11" name="Text 9"/>
          <p:cNvSpPr/>
          <p:nvPr/>
        </p:nvSpPr>
        <p:spPr>
          <a:xfrm>
            <a:off x="6400800" y="2743200"/>
            <a:ext cx="32004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OBSERVATION</a:t>
            </a:r>
            <a:endParaRPr lang="en-US" sz="1000" dirty="0"/>
          </a:p>
        </p:txBody>
      </p:sp>
      <p:sp>
        <p:nvSpPr>
          <p:cNvPr id="12" name="Text 10"/>
          <p:cNvSpPr/>
          <p:nvPr/>
        </p:nvSpPr>
        <p:spPr>
          <a:xfrm>
            <a:off x="9601200" y="2743200"/>
            <a:ext cx="1645920" cy="457200"/>
          </a:xfrm>
          <a:prstGeom prst="rect">
            <a:avLst/>
          </a:prstGeom>
          <a:noFill/>
          <a:ln/>
        </p:spPr>
        <p:txBody>
          <a:bodyPr wrap="square" lIns="0" tIns="0" rIns="0" bIns="0" rtlCol="0" anchor="ctr"/>
          <a:lstStyle/>
          <a:p>
            <a:pPr marL="0" indent="0" algn="ctr">
              <a:buNone/>
            </a:pPr>
            <a:r>
              <a:rPr lang="en-US" sz="1000" b="1" dirty="0">
                <a:solidFill>
                  <a:srgbClr val="10333A"/>
                </a:solidFill>
                <a:latin typeface="Calibri" pitchFamily="34" charset="0"/>
                <a:ea typeface="Calibri" pitchFamily="34" charset="-122"/>
                <a:cs typeface="Calibri" pitchFamily="34" charset="-120"/>
              </a:rPr>
              <a:t>PREDICT</a:t>
            </a:r>
            <a:endParaRPr lang="en-US" sz="1000" dirty="0"/>
          </a:p>
        </p:txBody>
      </p:sp>
      <p:sp>
        <p:nvSpPr>
          <p:cNvPr id="13" name="Text 11"/>
          <p:cNvSpPr/>
          <p:nvPr/>
        </p:nvSpPr>
        <p:spPr>
          <a:xfrm>
            <a:off x="6172200" y="3291840"/>
            <a:ext cx="1188720" cy="274320"/>
          </a:xfrm>
          <a:prstGeom prst="rect">
            <a:avLst/>
          </a:prstGeom>
          <a:noFill/>
          <a:ln/>
        </p:spPr>
        <p:txBody>
          <a:bodyPr wrap="square" lIns="0" tIns="0" rIns="0" bIns="0" rtlCol="0" anchor="ctr"/>
          <a:lstStyle/>
          <a:p>
            <a:pPr marL="0" indent="0">
              <a:buNone/>
            </a:pPr>
            <a:r>
              <a:rPr lang="en-US" sz="900" dirty="0">
                <a:solidFill>
                  <a:srgbClr val="8FB3B8"/>
                </a:solidFill>
                <a:latin typeface="Calibri" pitchFamily="34" charset="0"/>
                <a:ea typeface="Calibri" pitchFamily="34" charset="-122"/>
                <a:cs typeface="Calibri" pitchFamily="34" charset="-120"/>
              </a:rPr>
              <a:t>2025-01-01</a:t>
            </a:r>
            <a:endParaRPr lang="en-US" sz="900" dirty="0"/>
          </a:p>
        </p:txBody>
      </p:sp>
      <p:sp>
        <p:nvSpPr>
          <p:cNvPr id="14" name="Text 12"/>
          <p:cNvSpPr/>
          <p:nvPr/>
        </p:nvSpPr>
        <p:spPr>
          <a:xfrm>
            <a:off x="9006840" y="3291840"/>
            <a:ext cx="1188720" cy="274320"/>
          </a:xfrm>
          <a:prstGeom prst="rect">
            <a:avLst/>
          </a:prstGeom>
          <a:noFill/>
          <a:ln/>
        </p:spPr>
        <p:txBody>
          <a:bodyPr wrap="square" lIns="0" tIns="0" rIns="0" bIns="0" rtlCol="0" anchor="ctr"/>
          <a:lstStyle/>
          <a:p>
            <a:pPr marL="0" indent="0" algn="ctr">
              <a:buNone/>
            </a:pPr>
            <a:r>
              <a:rPr lang="en-US" sz="900" dirty="0">
                <a:solidFill>
                  <a:srgbClr val="D9A404"/>
                </a:solidFill>
                <a:latin typeface="Calibri" pitchFamily="34" charset="0"/>
                <a:ea typeface="Calibri" pitchFamily="34" charset="-122"/>
                <a:cs typeface="Calibri" pitchFamily="34" charset="-120"/>
              </a:rPr>
              <a:t>2026-04-01</a:t>
            </a:r>
            <a:endParaRPr lang="en-US" sz="900" dirty="0"/>
          </a:p>
        </p:txBody>
      </p:sp>
      <p:sp>
        <p:nvSpPr>
          <p:cNvPr id="15" name="Text 13"/>
          <p:cNvSpPr/>
          <p:nvPr/>
        </p:nvSpPr>
        <p:spPr>
          <a:xfrm>
            <a:off x="10332720" y="3291840"/>
            <a:ext cx="1097280" cy="274320"/>
          </a:xfrm>
          <a:prstGeom prst="rect">
            <a:avLst/>
          </a:prstGeom>
          <a:noFill/>
          <a:ln/>
        </p:spPr>
        <p:txBody>
          <a:bodyPr wrap="square" lIns="0" tIns="0" rIns="0" bIns="0" rtlCol="0" anchor="ctr"/>
          <a:lstStyle/>
          <a:p>
            <a:pPr marL="0" indent="0">
              <a:buNone/>
            </a:pPr>
            <a:r>
              <a:rPr lang="en-US" sz="900" dirty="0">
                <a:solidFill>
                  <a:srgbClr val="8FB3B8"/>
                </a:solidFill>
                <a:latin typeface="Calibri" pitchFamily="34" charset="0"/>
                <a:ea typeface="Calibri" pitchFamily="34" charset="-122"/>
                <a:cs typeface="Calibri" pitchFamily="34" charset="-120"/>
              </a:rPr>
              <a:t>2026-06-30</a:t>
            </a:r>
            <a:endParaRPr lang="en-US" sz="900" dirty="0"/>
          </a:p>
        </p:txBody>
      </p:sp>
      <p:sp>
        <p:nvSpPr>
          <p:cNvPr id="16" name="Text 14"/>
          <p:cNvSpPr/>
          <p:nvPr/>
        </p:nvSpPr>
        <p:spPr>
          <a:xfrm>
            <a:off x="6400800" y="2331720"/>
            <a:ext cx="3200400" cy="274320"/>
          </a:xfrm>
          <a:prstGeom prst="rect">
            <a:avLst/>
          </a:prstGeom>
          <a:noFill/>
          <a:ln/>
        </p:spPr>
        <p:txBody>
          <a:bodyPr wrap="square" lIns="0" tIns="0" rIns="0" bIns="0" rtlCol="0" anchor="ctr"/>
          <a:lstStyle/>
          <a:p>
            <a:pPr marL="0" indent="0" algn="ctr">
              <a:buNone/>
            </a:pPr>
            <a:r>
              <a:rPr lang="en-US" sz="950" i="1" dirty="0">
                <a:solidFill>
                  <a:srgbClr val="02C39A"/>
                </a:solidFill>
                <a:latin typeface="Calibri" pitchFamily="34" charset="0"/>
                <a:ea typeface="Calibri" pitchFamily="34" charset="-122"/>
                <a:cs typeface="Calibri" pitchFamily="34" charset="-120"/>
              </a:rPr>
              <a:t>features built here</a:t>
            </a:r>
            <a:endParaRPr lang="en-US" sz="950" dirty="0"/>
          </a:p>
        </p:txBody>
      </p:sp>
      <p:sp>
        <p:nvSpPr>
          <p:cNvPr id="17" name="Text 15"/>
          <p:cNvSpPr/>
          <p:nvPr/>
        </p:nvSpPr>
        <p:spPr>
          <a:xfrm>
            <a:off x="9509760" y="2331720"/>
            <a:ext cx="1828800" cy="274320"/>
          </a:xfrm>
          <a:prstGeom prst="rect">
            <a:avLst/>
          </a:prstGeom>
          <a:noFill/>
          <a:ln/>
        </p:spPr>
        <p:txBody>
          <a:bodyPr wrap="square" lIns="0" tIns="0" rIns="0" bIns="0" rtlCol="0" anchor="ctr"/>
          <a:lstStyle/>
          <a:p>
            <a:pPr marL="0" indent="0" algn="ctr">
              <a:buNone/>
            </a:pPr>
            <a:r>
              <a:rPr lang="en-US" sz="950" i="1" dirty="0">
                <a:solidFill>
                  <a:srgbClr val="D9A404"/>
                </a:solidFill>
                <a:latin typeface="Calibri" pitchFamily="34" charset="0"/>
                <a:ea typeface="Calibri" pitchFamily="34" charset="-122"/>
                <a:cs typeface="Calibri" pitchFamily="34" charset="-120"/>
              </a:rPr>
              <a:t>label defined here</a:t>
            </a:r>
            <a:endParaRPr lang="en-US" sz="950" dirty="0"/>
          </a:p>
        </p:txBody>
      </p:sp>
      <p:sp>
        <p:nvSpPr>
          <p:cNvPr id="18" name="Text 16"/>
          <p:cNvSpPr/>
          <p:nvPr/>
        </p:nvSpPr>
        <p:spPr>
          <a:xfrm>
            <a:off x="6400800" y="3931920"/>
            <a:ext cx="4846320" cy="731520"/>
          </a:xfrm>
          <a:prstGeom prst="rect">
            <a:avLst/>
          </a:prstGeom>
          <a:noFill/>
          <a:ln/>
        </p:spPr>
        <p:txBody>
          <a:bodyPr wrap="square" lIns="0" tIns="0" rIns="0" bIns="0" rtlCol="0" anchor="ctr"/>
          <a:lstStyle/>
          <a:p>
            <a:pPr marL="0" indent="0">
              <a:buNone/>
            </a:pPr>
            <a:r>
              <a:rPr lang="en-US" sz="1050" dirty="0">
                <a:solidFill>
                  <a:srgbClr val="D6E6E8"/>
                </a:solidFill>
                <a:latin typeface="Calibri" pitchFamily="34" charset="0"/>
                <a:ea typeface="Calibri" pitchFamily="34" charset="-122"/>
                <a:cs typeface="Calibri" pitchFamily="34" charset="-120"/>
              </a:rPr>
              <a:t>Verified: strongest single feature correlates 0.52 with churn.</a:t>
            </a:r>
            <a:endParaRPr lang="en-US" sz="1050" dirty="0"/>
          </a:p>
          <a:p>
            <a:pPr marL="0" indent="0">
              <a:buNone/>
            </a:pPr>
            <a:r>
              <a:rPr lang="en-US" sz="1050" dirty="0">
                <a:solidFill>
                  <a:srgbClr val="D6E6E8"/>
                </a:solidFill>
                <a:latin typeface="Calibri" pitchFamily="34" charset="0"/>
                <a:ea typeface="Calibri" pitchFamily="34" charset="-122"/>
                <a:cs typeface="Calibri" pitchFamily="34" charset="-120"/>
              </a:rPr>
              <a:t>No feature gives the answer away.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98 features across four data sources</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Engineered broadly because which source carries the signal was not obvious</a:t>
            </a:r>
            <a:endParaRPr lang="en-US" sz="1350" dirty="0"/>
          </a:p>
        </p:txBody>
      </p:sp>
      <p:sp>
        <p:nvSpPr>
          <p:cNvPr id="4" name="Shape 2"/>
          <p:cNvSpPr/>
          <p:nvPr/>
        </p:nvSpPr>
        <p:spPr>
          <a:xfrm>
            <a:off x="640080" y="1737360"/>
            <a:ext cx="6766560" cy="914400"/>
          </a:xfrm>
          <a:prstGeom prst="roundRect">
            <a:avLst>
              <a:gd name="adj" fmla="val 6000"/>
            </a:avLst>
          </a:prstGeom>
          <a:solidFill>
            <a:srgbClr val="F1F7F7"/>
          </a:solidFill>
          <a:ln w="12700">
            <a:solidFill>
              <a:srgbClr val="F1F7F7"/>
            </a:solidFill>
            <a:prstDash val="solid"/>
          </a:ln>
        </p:spPr>
        <p:txBody>
          <a:bodyPr/>
          <a:lstStyle/>
          <a:p>
            <a:endParaRPr lang="en-US"/>
          </a:p>
        </p:txBody>
      </p:sp>
      <p:sp>
        <p:nvSpPr>
          <p:cNvPr id="5" name="Shape 3"/>
          <p:cNvSpPr/>
          <p:nvPr/>
        </p:nvSpPr>
        <p:spPr>
          <a:xfrm>
            <a:off x="841248" y="1920240"/>
            <a:ext cx="777240" cy="548640"/>
          </a:xfrm>
          <a:prstGeom prst="roundRect">
            <a:avLst>
              <a:gd name="adj" fmla="val 8333"/>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841248" y="1920240"/>
            <a:ext cx="7772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52</a:t>
            </a:r>
            <a:endParaRPr lang="en-US" sz="1900" dirty="0"/>
          </a:p>
        </p:txBody>
      </p:sp>
      <p:sp>
        <p:nvSpPr>
          <p:cNvPr id="7" name="Text 5"/>
          <p:cNvSpPr/>
          <p:nvPr/>
        </p:nvSpPr>
        <p:spPr>
          <a:xfrm>
            <a:off x="1810512" y="1856232"/>
            <a:ext cx="5394960" cy="29260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Purchase / RFM</a:t>
            </a:r>
            <a:endParaRPr lang="en-US" sz="1300" dirty="0"/>
          </a:p>
        </p:txBody>
      </p:sp>
      <p:sp>
        <p:nvSpPr>
          <p:cNvPr id="8" name="Text 6"/>
          <p:cNvSpPr/>
          <p:nvPr/>
        </p:nvSpPr>
        <p:spPr>
          <a:xfrm>
            <a:off x="1810512" y="2148840"/>
            <a:ext cx="5394960" cy="45720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Recency, frequency, monetary, basket size, discount dependency, delivery experience</a:t>
            </a:r>
            <a:endParaRPr lang="en-US" sz="1000" dirty="0"/>
          </a:p>
        </p:txBody>
      </p:sp>
      <p:sp>
        <p:nvSpPr>
          <p:cNvPr id="9" name="Shape 7"/>
          <p:cNvSpPr/>
          <p:nvPr/>
        </p:nvSpPr>
        <p:spPr>
          <a:xfrm>
            <a:off x="640080" y="2798064"/>
            <a:ext cx="6766560" cy="914400"/>
          </a:xfrm>
          <a:prstGeom prst="roundRect">
            <a:avLst>
              <a:gd name="adj" fmla="val 6000"/>
            </a:avLst>
          </a:prstGeom>
          <a:solidFill>
            <a:srgbClr val="F1F7F7"/>
          </a:solidFill>
          <a:ln w="12700">
            <a:solidFill>
              <a:srgbClr val="F1F7F7"/>
            </a:solidFill>
            <a:prstDash val="solid"/>
          </a:ln>
        </p:spPr>
        <p:txBody>
          <a:bodyPr/>
          <a:lstStyle/>
          <a:p>
            <a:endParaRPr lang="en-US"/>
          </a:p>
        </p:txBody>
      </p:sp>
      <p:sp>
        <p:nvSpPr>
          <p:cNvPr id="10" name="Shape 8"/>
          <p:cNvSpPr/>
          <p:nvPr/>
        </p:nvSpPr>
        <p:spPr>
          <a:xfrm>
            <a:off x="841248" y="2980944"/>
            <a:ext cx="777240" cy="548640"/>
          </a:xfrm>
          <a:prstGeom prst="roundRect">
            <a:avLst>
              <a:gd name="adj" fmla="val 8333"/>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841248" y="2980944"/>
            <a:ext cx="7772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31</a:t>
            </a:r>
            <a:endParaRPr lang="en-US" sz="1900" dirty="0"/>
          </a:p>
        </p:txBody>
      </p:sp>
      <p:sp>
        <p:nvSpPr>
          <p:cNvPr id="12" name="Text 10"/>
          <p:cNvSpPr/>
          <p:nvPr/>
        </p:nvSpPr>
        <p:spPr>
          <a:xfrm>
            <a:off x="1810512" y="2916936"/>
            <a:ext cx="5394960" cy="29260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Behavioural</a:t>
            </a:r>
            <a:endParaRPr lang="en-US" sz="1300" dirty="0"/>
          </a:p>
        </p:txBody>
      </p:sp>
      <p:sp>
        <p:nvSpPr>
          <p:cNvPr id="13" name="Text 11"/>
          <p:cNvSpPr/>
          <p:nvPr/>
        </p:nvSpPr>
        <p:spPr>
          <a:xfrm>
            <a:off x="1810512" y="3209544"/>
            <a:ext cx="5394960" cy="45720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Sessions, dwell time, funnel conversion, bounce rate, device mix, recent activity</a:t>
            </a:r>
            <a:endParaRPr lang="en-US" sz="1000" dirty="0"/>
          </a:p>
        </p:txBody>
      </p:sp>
      <p:sp>
        <p:nvSpPr>
          <p:cNvPr id="14" name="Shape 12"/>
          <p:cNvSpPr/>
          <p:nvPr/>
        </p:nvSpPr>
        <p:spPr>
          <a:xfrm>
            <a:off x="640080" y="3858768"/>
            <a:ext cx="6766560" cy="914400"/>
          </a:xfrm>
          <a:prstGeom prst="roundRect">
            <a:avLst>
              <a:gd name="adj" fmla="val 6000"/>
            </a:avLst>
          </a:prstGeom>
          <a:solidFill>
            <a:srgbClr val="F1F7F7"/>
          </a:solidFill>
          <a:ln w="12700">
            <a:solidFill>
              <a:srgbClr val="F1F7F7"/>
            </a:solidFill>
            <a:prstDash val="solid"/>
          </a:ln>
        </p:spPr>
        <p:txBody>
          <a:bodyPr/>
          <a:lstStyle/>
          <a:p>
            <a:endParaRPr lang="en-US"/>
          </a:p>
        </p:txBody>
      </p:sp>
      <p:sp>
        <p:nvSpPr>
          <p:cNvPr id="15" name="Shape 13"/>
          <p:cNvSpPr/>
          <p:nvPr/>
        </p:nvSpPr>
        <p:spPr>
          <a:xfrm>
            <a:off x="841248" y="4041648"/>
            <a:ext cx="777240" cy="548640"/>
          </a:xfrm>
          <a:prstGeom prst="roundRect">
            <a:avLst>
              <a:gd name="adj" fmla="val 8333"/>
            </a:avLst>
          </a:prstGeom>
          <a:solidFill>
            <a:srgbClr val="02C39A"/>
          </a:solidFill>
          <a:ln w="12700">
            <a:solidFill>
              <a:srgbClr val="02C39A"/>
            </a:solidFill>
            <a:prstDash val="solid"/>
          </a:ln>
        </p:spPr>
        <p:txBody>
          <a:bodyPr/>
          <a:lstStyle/>
          <a:p>
            <a:endParaRPr lang="en-US"/>
          </a:p>
        </p:txBody>
      </p:sp>
      <p:sp>
        <p:nvSpPr>
          <p:cNvPr id="16" name="Text 14"/>
          <p:cNvSpPr/>
          <p:nvPr/>
        </p:nvSpPr>
        <p:spPr>
          <a:xfrm>
            <a:off x="841248" y="4041648"/>
            <a:ext cx="7772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11</a:t>
            </a:r>
            <a:endParaRPr lang="en-US" sz="1900" dirty="0"/>
          </a:p>
        </p:txBody>
      </p:sp>
      <p:sp>
        <p:nvSpPr>
          <p:cNvPr id="17" name="Text 15"/>
          <p:cNvSpPr/>
          <p:nvPr/>
        </p:nvSpPr>
        <p:spPr>
          <a:xfrm>
            <a:off x="1810512" y="3977640"/>
            <a:ext cx="5394960" cy="29260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Demographics</a:t>
            </a:r>
            <a:endParaRPr lang="en-US" sz="1300" dirty="0"/>
          </a:p>
        </p:txBody>
      </p:sp>
      <p:sp>
        <p:nvSpPr>
          <p:cNvPr id="18" name="Text 16"/>
          <p:cNvSpPr/>
          <p:nvPr/>
        </p:nvSpPr>
        <p:spPr>
          <a:xfrm>
            <a:off x="1810512" y="4270248"/>
            <a:ext cx="5394960" cy="45720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Age, region, acquisition channel, loyalty tier, tenure, income</a:t>
            </a:r>
            <a:endParaRPr lang="en-US" sz="1000" dirty="0"/>
          </a:p>
        </p:txBody>
      </p:sp>
      <p:sp>
        <p:nvSpPr>
          <p:cNvPr id="19" name="Shape 17"/>
          <p:cNvSpPr/>
          <p:nvPr/>
        </p:nvSpPr>
        <p:spPr>
          <a:xfrm>
            <a:off x="640080" y="4919472"/>
            <a:ext cx="6766560" cy="914400"/>
          </a:xfrm>
          <a:prstGeom prst="roundRect">
            <a:avLst>
              <a:gd name="adj" fmla="val 6000"/>
            </a:avLst>
          </a:prstGeom>
          <a:solidFill>
            <a:srgbClr val="F1F7F7"/>
          </a:solidFill>
          <a:ln w="12700">
            <a:solidFill>
              <a:srgbClr val="F1F7F7"/>
            </a:solidFill>
            <a:prstDash val="solid"/>
          </a:ln>
        </p:spPr>
        <p:txBody>
          <a:bodyPr/>
          <a:lstStyle/>
          <a:p>
            <a:endParaRPr lang="en-US"/>
          </a:p>
        </p:txBody>
      </p:sp>
      <p:sp>
        <p:nvSpPr>
          <p:cNvPr id="20" name="Shape 18"/>
          <p:cNvSpPr/>
          <p:nvPr/>
        </p:nvSpPr>
        <p:spPr>
          <a:xfrm>
            <a:off x="841248" y="5102352"/>
            <a:ext cx="777240" cy="548640"/>
          </a:xfrm>
          <a:prstGeom prst="roundRect">
            <a:avLst>
              <a:gd name="adj" fmla="val 8333"/>
            </a:avLst>
          </a:prstGeom>
          <a:solidFill>
            <a:srgbClr val="4A6670"/>
          </a:solidFill>
          <a:ln w="12700">
            <a:solidFill>
              <a:srgbClr val="4A6670"/>
            </a:solidFill>
            <a:prstDash val="solid"/>
          </a:ln>
        </p:spPr>
        <p:txBody>
          <a:bodyPr/>
          <a:lstStyle/>
          <a:p>
            <a:endParaRPr lang="en-US"/>
          </a:p>
        </p:txBody>
      </p:sp>
      <p:sp>
        <p:nvSpPr>
          <p:cNvPr id="21" name="Text 19"/>
          <p:cNvSpPr/>
          <p:nvPr/>
        </p:nvSpPr>
        <p:spPr>
          <a:xfrm>
            <a:off x="841248" y="5102352"/>
            <a:ext cx="7772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2" name="Text 20"/>
          <p:cNvSpPr/>
          <p:nvPr/>
        </p:nvSpPr>
        <p:spPr>
          <a:xfrm>
            <a:off x="1810512" y="5038344"/>
            <a:ext cx="5394960" cy="292608"/>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Reviews</a:t>
            </a:r>
            <a:endParaRPr lang="en-US" sz="1300" dirty="0"/>
          </a:p>
        </p:txBody>
      </p:sp>
      <p:sp>
        <p:nvSpPr>
          <p:cNvPr id="23" name="Text 21"/>
          <p:cNvSpPr/>
          <p:nvPr/>
        </p:nvSpPr>
        <p:spPr>
          <a:xfrm>
            <a:off x="1810512" y="5330952"/>
            <a:ext cx="5394960" cy="457200"/>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Review count, average rating given, helpfulness</a:t>
            </a:r>
            <a:endParaRPr lang="en-US" sz="1000" dirty="0"/>
          </a:p>
        </p:txBody>
      </p:sp>
      <p:sp>
        <p:nvSpPr>
          <p:cNvPr id="24" name="Shape 22"/>
          <p:cNvSpPr/>
          <p:nvPr/>
        </p:nvSpPr>
        <p:spPr>
          <a:xfrm>
            <a:off x="7679094" y="1737360"/>
            <a:ext cx="3749040" cy="4160520"/>
          </a:xfrm>
          <a:prstGeom prst="roundRect">
            <a:avLst>
              <a:gd name="adj" fmla="val 1463"/>
            </a:avLst>
          </a:prstGeom>
          <a:solidFill>
            <a:srgbClr val="10333A"/>
          </a:solidFill>
          <a:ln w="12700">
            <a:solidFill>
              <a:srgbClr val="10333A"/>
            </a:solidFill>
            <a:prstDash val="solid"/>
          </a:ln>
        </p:spPr>
        <p:txBody>
          <a:bodyPr/>
          <a:lstStyle/>
          <a:p>
            <a:endParaRPr lang="en-US"/>
          </a:p>
        </p:txBody>
      </p:sp>
      <p:sp>
        <p:nvSpPr>
          <p:cNvPr id="25" name="Text 23"/>
          <p:cNvSpPr/>
          <p:nvPr/>
        </p:nvSpPr>
        <p:spPr>
          <a:xfrm>
            <a:off x="8046720" y="1920240"/>
            <a:ext cx="3200400" cy="640080"/>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Two features I am</a:t>
            </a:r>
            <a:endParaRPr lang="en-US" sz="1300" dirty="0"/>
          </a:p>
          <a:p>
            <a:pPr marL="0" indent="0">
              <a:buNone/>
            </a:pPr>
            <a:r>
              <a:rPr lang="en-US" sz="1300" b="1" dirty="0">
                <a:solidFill>
                  <a:srgbClr val="02C39A"/>
                </a:solidFill>
                <a:latin typeface="Calibri" pitchFamily="34" charset="0"/>
                <a:ea typeface="Calibri" pitchFamily="34" charset="-122"/>
                <a:cs typeface="Calibri" pitchFamily="34" charset="-120"/>
              </a:rPr>
              <a:t>proudest of</a:t>
            </a:r>
            <a:endParaRPr lang="en-US" sz="1300" dirty="0"/>
          </a:p>
        </p:txBody>
      </p:sp>
      <p:sp>
        <p:nvSpPr>
          <p:cNvPr id="26" name="Text 24"/>
          <p:cNvSpPr/>
          <p:nvPr/>
        </p:nvSpPr>
        <p:spPr>
          <a:xfrm>
            <a:off x="8046720" y="2651760"/>
            <a:ext cx="3200400" cy="2386584"/>
          </a:xfrm>
          <a:prstGeom prst="rect">
            <a:avLst/>
          </a:prstGeom>
          <a:noFill/>
          <a:ln/>
        </p:spPr>
        <p:txBody>
          <a:bodyPr wrap="square" lIns="0" tIns="0" rIns="0" bIns="0" rtlCol="0" anchor="ctr"/>
          <a:lstStyle/>
          <a:p>
            <a:pPr marL="0" indent="0">
              <a:lnSpc>
                <a:spcPts val="1400"/>
              </a:lnSpc>
              <a:buNone/>
            </a:pPr>
            <a:r>
              <a:rPr lang="en-US" sz="1150" b="1" dirty="0">
                <a:solidFill>
                  <a:srgbClr val="FFFFFF"/>
                </a:solidFill>
                <a:latin typeface="Calibri" pitchFamily="34" charset="0"/>
                <a:ea typeface="Calibri" pitchFamily="34" charset="-122"/>
                <a:cs typeface="Calibri" pitchFamily="34" charset="-120"/>
              </a:rPr>
              <a:t>recency vs cadence
</a:t>
            </a:r>
            <a:r>
              <a:rPr lang="en-US" sz="1000" dirty="0">
                <a:solidFill>
                  <a:srgbClr val="BBD4D8"/>
                </a:solidFill>
                <a:latin typeface="Calibri" pitchFamily="34" charset="0"/>
                <a:ea typeface="Calibri" pitchFamily="34" charset="-122"/>
                <a:cs typeface="Calibri" pitchFamily="34" charset="-120"/>
              </a:rPr>
              <a:t>Not days since last order — days relative to that customer's own rhythm. A weekly buyer silent for a month is a far stronger signal than the raw number.
</a:t>
            </a:r>
            <a:r>
              <a:rPr lang="en-US" sz="1150" b="1" dirty="0">
                <a:solidFill>
                  <a:srgbClr val="FFFFFF"/>
                </a:solidFill>
                <a:latin typeface="Calibri" pitchFamily="34" charset="0"/>
                <a:ea typeface="Calibri" pitchFamily="34" charset="-122"/>
                <a:cs typeface="Calibri" pitchFamily="34" charset="-120"/>
              </a:rPr>
              <a:t>discount dependency
</a:t>
            </a:r>
            <a:r>
              <a:rPr lang="en-US" sz="1000" dirty="0">
                <a:solidFill>
                  <a:srgbClr val="BBD4D8"/>
                </a:solidFill>
                <a:latin typeface="Calibri" pitchFamily="34" charset="0"/>
                <a:ea typeface="Calibri" pitchFamily="34" charset="-122"/>
                <a:cs typeface="Calibri" pitchFamily="34" charset="-120"/>
              </a:rPr>
              <a:t>What share of their spend is subsidised by promotions. Separates customers loyal to the brand from those loyal to the discount.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Model selection: floor, baseline, candidate</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A score means nothing without a reference point</a:t>
            </a:r>
            <a:endParaRPr lang="en-US" sz="1350" dirty="0"/>
          </a:p>
        </p:txBody>
      </p:sp>
      <p:graphicFrame>
        <p:nvGraphicFramePr>
          <p:cNvPr id="4" name="Chart 0"/>
          <p:cNvGraphicFramePr/>
          <p:nvPr/>
        </p:nvGraphicFramePr>
        <p:xfrm>
          <a:off x="640080" y="1737360"/>
          <a:ext cx="60350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40880" y="1737360"/>
            <a:ext cx="4480560" cy="3931920"/>
          </a:xfrm>
          <a:prstGeom prst="roundRect">
            <a:avLst>
              <a:gd name="adj" fmla="val 1395"/>
            </a:avLst>
          </a:prstGeom>
          <a:solidFill>
            <a:srgbClr val="F1F7F7"/>
          </a:solidFill>
          <a:ln w="12700">
            <a:solidFill>
              <a:srgbClr val="F1F7F7"/>
            </a:solidFill>
            <a:prstDash val="solid"/>
          </a:ln>
        </p:spPr>
        <p:txBody>
          <a:bodyPr/>
          <a:lstStyle/>
          <a:p>
            <a:endParaRPr lang="en-US"/>
          </a:p>
        </p:txBody>
      </p:sp>
      <p:sp>
        <p:nvSpPr>
          <p:cNvPr id="6" name="Text 3"/>
          <p:cNvSpPr/>
          <p:nvPr/>
        </p:nvSpPr>
        <p:spPr>
          <a:xfrm>
            <a:off x="7315200" y="1920240"/>
            <a:ext cx="3931920" cy="320040"/>
          </a:xfrm>
          <a:prstGeom prst="rect">
            <a:avLst/>
          </a:prstGeom>
          <a:noFill/>
          <a:ln/>
        </p:spPr>
        <p:txBody>
          <a:bodyPr wrap="square" lIns="0" tIns="0" rIns="0" bIns="0" rtlCol="0" anchor="ctr"/>
          <a:lstStyle/>
          <a:p>
            <a:pPr marL="0" indent="0">
              <a:buNone/>
            </a:pPr>
            <a:r>
              <a:rPr lang="en-US" sz="1350" b="1" dirty="0">
                <a:solidFill>
                  <a:srgbClr val="10333A"/>
                </a:solidFill>
                <a:latin typeface="Calibri" pitchFamily="34" charset="0"/>
                <a:ea typeface="Calibri" pitchFamily="34" charset="-122"/>
                <a:cs typeface="Calibri" pitchFamily="34" charset="-120"/>
              </a:rPr>
              <a:t>Reading this honestly</a:t>
            </a:r>
            <a:endParaRPr lang="en-US" sz="1350" dirty="0"/>
          </a:p>
        </p:txBody>
      </p:sp>
      <p:sp>
        <p:nvSpPr>
          <p:cNvPr id="7" name="Text 4"/>
          <p:cNvSpPr/>
          <p:nvPr/>
        </p:nvSpPr>
        <p:spPr>
          <a:xfrm>
            <a:off x="7315200" y="2286000"/>
            <a:ext cx="3931920" cy="3200400"/>
          </a:xfrm>
          <a:prstGeom prst="rect">
            <a:avLst/>
          </a:prstGeom>
          <a:noFill/>
          <a:ln/>
        </p:spPr>
        <p:txBody>
          <a:bodyPr wrap="square" lIns="0" tIns="0" rIns="0" bIns="0" rtlCol="0" anchor="ctr"/>
          <a:lstStyle/>
          <a:p>
            <a:pPr marL="0" indent="0">
              <a:lnSpc>
                <a:spcPts val="1600"/>
              </a:lnSpc>
              <a:buNone/>
            </a:pPr>
            <a:r>
              <a:rPr lang="en-US" sz="1100" dirty="0">
                <a:solidFill>
                  <a:srgbClr val="4A6670"/>
                </a:solidFill>
                <a:latin typeface="Calibri" pitchFamily="34" charset="0"/>
                <a:ea typeface="Calibri" pitchFamily="34" charset="-122"/>
                <a:cs typeface="Calibri" pitchFamily="34" charset="-120"/>
              </a:rPr>
              <a:t>The dummy sits at exactly 0.50 confirming AUC is measured correctly, since a no-skill model must score chance.
</a:t>
            </a:r>
            <a:r>
              <a:rPr lang="en-US" sz="1100" b="1" dirty="0">
                <a:solidFill>
                  <a:srgbClr val="10333A"/>
                </a:solidFill>
                <a:latin typeface="Calibri" pitchFamily="34" charset="0"/>
                <a:ea typeface="Calibri" pitchFamily="34" charset="-122"/>
                <a:cs typeface="Calibri" pitchFamily="34" charset="-120"/>
              </a:rPr>
              <a:t>Logistic regression essentially ties the Random Forest (0.843 vs 0.844). </a:t>
            </a:r>
            <a:r>
              <a:rPr lang="en-US" sz="1100" dirty="0">
                <a:solidFill>
                  <a:srgbClr val="4A6670"/>
                </a:solidFill>
                <a:latin typeface="Calibri" pitchFamily="34" charset="0"/>
                <a:ea typeface="Calibri" pitchFamily="34" charset="-122"/>
                <a:cs typeface="Calibri" pitchFamily="34" charset="-120"/>
              </a:rPr>
              <a:t>The forest wins on recall and F1 and gives usable feature importances, but this is not a decisive victory.
</a:t>
            </a:r>
            <a:r>
              <a:rPr lang="en-US" sz="1100" i="1" dirty="0">
                <a:solidFill>
                  <a:srgbClr val="028090"/>
                </a:solidFill>
                <a:latin typeface="Calibri" pitchFamily="34" charset="0"/>
                <a:ea typeface="Calibri" pitchFamily="34" charset="-122"/>
                <a:cs typeface="Calibri" pitchFamily="34" charset="-120"/>
              </a:rPr>
              <a:t>When a linear model matches an ensemble, the signal is largely linear, which later justified using an L1 selector to prune.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Held-out test performance</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A 25% test set touched by no cleaning statistic, no fold, no tuning run</a:t>
            </a:r>
            <a:endParaRPr lang="en-US" sz="1350" dirty="0"/>
          </a:p>
        </p:txBody>
      </p:sp>
      <p:sp>
        <p:nvSpPr>
          <p:cNvPr id="4" name="Text 2"/>
          <p:cNvSpPr/>
          <p:nvPr/>
        </p:nvSpPr>
        <p:spPr>
          <a:xfrm>
            <a:off x="640080" y="1783080"/>
            <a:ext cx="2651760" cy="731520"/>
          </a:xfrm>
          <a:prstGeom prst="rect">
            <a:avLst/>
          </a:prstGeom>
          <a:noFill/>
          <a:ln/>
        </p:spPr>
        <p:txBody>
          <a:bodyPr wrap="square" lIns="0" tIns="0" rIns="0" bIns="0" rtlCol="0" anchor="ctr"/>
          <a:lstStyle/>
          <a:p>
            <a:pPr marL="0" indent="0" algn="ctr">
              <a:buNone/>
            </a:pPr>
            <a:r>
              <a:rPr lang="en-US" sz="4200" b="1" dirty="0">
                <a:solidFill>
                  <a:srgbClr val="028090"/>
                </a:solidFill>
                <a:latin typeface="Cambria" pitchFamily="34" charset="0"/>
                <a:ea typeface="Cambria" pitchFamily="34" charset="-122"/>
                <a:cs typeface="Cambria" pitchFamily="34" charset="-120"/>
              </a:rPr>
              <a:t>0.846</a:t>
            </a:r>
            <a:endParaRPr lang="en-US" sz="4200" dirty="0"/>
          </a:p>
        </p:txBody>
      </p:sp>
      <p:sp>
        <p:nvSpPr>
          <p:cNvPr id="5" name="Text 3"/>
          <p:cNvSpPr/>
          <p:nvPr/>
        </p:nvSpPr>
        <p:spPr>
          <a:xfrm>
            <a:off x="640080" y="2514600"/>
            <a:ext cx="265176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ROC-AUC</a:t>
            </a:r>
            <a:endParaRPr lang="en-US" sz="1050" dirty="0"/>
          </a:p>
        </p:txBody>
      </p:sp>
      <p:sp>
        <p:nvSpPr>
          <p:cNvPr id="6" name="Text 4"/>
          <p:cNvSpPr/>
          <p:nvPr/>
        </p:nvSpPr>
        <p:spPr>
          <a:xfrm>
            <a:off x="3429000" y="1783080"/>
            <a:ext cx="2651760" cy="731520"/>
          </a:xfrm>
          <a:prstGeom prst="rect">
            <a:avLst/>
          </a:prstGeom>
          <a:noFill/>
          <a:ln/>
        </p:spPr>
        <p:txBody>
          <a:bodyPr wrap="square" lIns="0" tIns="0" rIns="0" bIns="0" rtlCol="0" anchor="ctr"/>
          <a:lstStyle/>
          <a:p>
            <a:pPr marL="0" indent="0" algn="ctr">
              <a:buNone/>
            </a:pPr>
            <a:r>
              <a:rPr lang="en-US" sz="4200" b="1" dirty="0">
                <a:solidFill>
                  <a:srgbClr val="00A896"/>
                </a:solidFill>
                <a:latin typeface="Cambria" pitchFamily="34" charset="0"/>
                <a:ea typeface="Cambria" pitchFamily="34" charset="-122"/>
                <a:cs typeface="Cambria" pitchFamily="34" charset="-120"/>
              </a:rPr>
              <a:t>89.2%</a:t>
            </a:r>
            <a:endParaRPr lang="en-US" sz="4200" dirty="0"/>
          </a:p>
        </p:txBody>
      </p:sp>
      <p:sp>
        <p:nvSpPr>
          <p:cNvPr id="7" name="Text 5"/>
          <p:cNvSpPr/>
          <p:nvPr/>
        </p:nvSpPr>
        <p:spPr>
          <a:xfrm>
            <a:off x="3429000" y="2514600"/>
            <a:ext cx="265176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CHURNERS CAUGHT</a:t>
            </a:r>
            <a:endParaRPr lang="en-US" sz="1050" dirty="0"/>
          </a:p>
        </p:txBody>
      </p:sp>
      <p:sp>
        <p:nvSpPr>
          <p:cNvPr id="8" name="Text 6"/>
          <p:cNvSpPr/>
          <p:nvPr/>
        </p:nvSpPr>
        <p:spPr>
          <a:xfrm>
            <a:off x="6217920" y="1783080"/>
            <a:ext cx="2651760" cy="731520"/>
          </a:xfrm>
          <a:prstGeom prst="rect">
            <a:avLst/>
          </a:prstGeom>
          <a:noFill/>
          <a:ln/>
        </p:spPr>
        <p:txBody>
          <a:bodyPr wrap="square" lIns="0" tIns="0" rIns="0" bIns="0" rtlCol="0" anchor="ctr"/>
          <a:lstStyle/>
          <a:p>
            <a:pPr marL="0" indent="0" algn="ctr">
              <a:buNone/>
            </a:pPr>
            <a:r>
              <a:rPr lang="en-US" sz="4200" b="1" dirty="0">
                <a:solidFill>
                  <a:srgbClr val="02C39A"/>
                </a:solidFill>
                <a:latin typeface="Cambria" pitchFamily="34" charset="0"/>
                <a:ea typeface="Cambria" pitchFamily="34" charset="-122"/>
                <a:cs typeface="Cambria" pitchFamily="34" charset="-120"/>
              </a:rPr>
              <a:t>71.5%</a:t>
            </a:r>
            <a:endParaRPr lang="en-US" sz="4200" dirty="0"/>
          </a:p>
        </p:txBody>
      </p:sp>
      <p:sp>
        <p:nvSpPr>
          <p:cNvPr id="9" name="Text 7"/>
          <p:cNvSpPr/>
          <p:nvPr/>
        </p:nvSpPr>
        <p:spPr>
          <a:xfrm>
            <a:off x="6217920" y="2514600"/>
            <a:ext cx="265176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PRECISION</a:t>
            </a:r>
            <a:endParaRPr lang="en-US" sz="1050" dirty="0"/>
          </a:p>
        </p:txBody>
      </p:sp>
      <p:sp>
        <p:nvSpPr>
          <p:cNvPr id="10" name="Text 8"/>
          <p:cNvSpPr/>
          <p:nvPr/>
        </p:nvSpPr>
        <p:spPr>
          <a:xfrm>
            <a:off x="9006840" y="1783080"/>
            <a:ext cx="2651760" cy="731520"/>
          </a:xfrm>
          <a:prstGeom prst="rect">
            <a:avLst/>
          </a:prstGeom>
          <a:noFill/>
          <a:ln/>
        </p:spPr>
        <p:txBody>
          <a:bodyPr wrap="square" lIns="0" tIns="0" rIns="0" bIns="0" rtlCol="0" anchor="ctr"/>
          <a:lstStyle/>
          <a:p>
            <a:pPr marL="0" indent="0" algn="ctr">
              <a:buNone/>
            </a:pPr>
            <a:r>
              <a:rPr lang="en-US" sz="4200" b="1" dirty="0">
                <a:solidFill>
                  <a:srgbClr val="4A6670"/>
                </a:solidFill>
                <a:latin typeface="Cambria" pitchFamily="34" charset="0"/>
                <a:ea typeface="Cambria" pitchFamily="34" charset="-122"/>
                <a:cs typeface="Cambria" pitchFamily="34" charset="-120"/>
              </a:rPr>
              <a:t>0.07</a:t>
            </a:r>
            <a:endParaRPr lang="en-US" sz="4200" dirty="0"/>
          </a:p>
        </p:txBody>
      </p:sp>
      <p:sp>
        <p:nvSpPr>
          <p:cNvPr id="11" name="Text 9"/>
          <p:cNvSpPr/>
          <p:nvPr/>
        </p:nvSpPr>
        <p:spPr>
          <a:xfrm>
            <a:off x="9006840" y="2514600"/>
            <a:ext cx="2651760" cy="411480"/>
          </a:xfrm>
          <a:prstGeom prst="rect">
            <a:avLst/>
          </a:prstGeom>
          <a:noFill/>
          <a:ln/>
        </p:spPr>
        <p:txBody>
          <a:bodyPr wrap="square" lIns="0" tIns="0" rIns="0" bIns="0" rtlCol="0" anchor="ctr"/>
          <a:lstStyle/>
          <a:p>
            <a:pPr marL="0" indent="0" algn="ctr">
              <a:buNone/>
            </a:pPr>
            <a:r>
              <a:rPr lang="en-US" sz="1050" dirty="0">
                <a:solidFill>
                  <a:srgbClr val="4A6670"/>
                </a:solidFill>
                <a:latin typeface="Calibri" pitchFamily="34" charset="0"/>
                <a:ea typeface="Calibri" pitchFamily="34" charset="-122"/>
                <a:cs typeface="Calibri" pitchFamily="34" charset="-120"/>
              </a:rPr>
              <a:t>TRAIN–TEST GAP</a:t>
            </a:r>
            <a:endParaRPr lang="en-US" sz="1050" dirty="0"/>
          </a:p>
        </p:txBody>
      </p:sp>
      <p:sp>
        <p:nvSpPr>
          <p:cNvPr id="12" name="Shape 10"/>
          <p:cNvSpPr/>
          <p:nvPr/>
        </p:nvSpPr>
        <p:spPr>
          <a:xfrm>
            <a:off x="640080" y="3383280"/>
            <a:ext cx="5303520" cy="2514600"/>
          </a:xfrm>
          <a:prstGeom prst="roundRect">
            <a:avLst>
              <a:gd name="adj" fmla="val 2182"/>
            </a:avLst>
          </a:prstGeom>
          <a:solidFill>
            <a:srgbClr val="F1F7F7"/>
          </a:solidFill>
          <a:ln w="12700">
            <a:solidFill>
              <a:srgbClr val="F1F7F7"/>
            </a:solidFill>
            <a:prstDash val="solid"/>
          </a:ln>
        </p:spPr>
        <p:txBody>
          <a:bodyPr/>
          <a:lstStyle/>
          <a:p>
            <a:endParaRPr lang="en-US"/>
          </a:p>
        </p:txBody>
      </p:sp>
      <p:sp>
        <p:nvSpPr>
          <p:cNvPr id="13" name="Text 11"/>
          <p:cNvSpPr/>
          <p:nvPr/>
        </p:nvSpPr>
        <p:spPr>
          <a:xfrm>
            <a:off x="914400" y="3566160"/>
            <a:ext cx="4754880" cy="320040"/>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Threshold tuned to 0.337, not 0.50</a:t>
            </a:r>
            <a:endParaRPr lang="en-US" sz="1300" dirty="0"/>
          </a:p>
        </p:txBody>
      </p:sp>
      <p:sp>
        <p:nvSpPr>
          <p:cNvPr id="14" name="Text 12"/>
          <p:cNvSpPr/>
          <p:nvPr/>
        </p:nvSpPr>
        <p:spPr>
          <a:xfrm>
            <a:off x="914400" y="3931920"/>
            <a:ext cx="4754880" cy="1737360"/>
          </a:xfrm>
          <a:prstGeom prst="rect">
            <a:avLst/>
          </a:prstGeom>
          <a:noFill/>
          <a:ln/>
        </p:spPr>
        <p:txBody>
          <a:bodyPr wrap="square" lIns="0" tIns="0" rIns="0" bIns="0" rtlCol="0" anchor="ctr"/>
          <a:lstStyle/>
          <a:p>
            <a:pPr marL="0" indent="0">
              <a:buNone/>
            </a:pPr>
            <a:r>
              <a:rPr lang="en-US" sz="1100" dirty="0">
                <a:solidFill>
                  <a:srgbClr val="4A6670"/>
                </a:solidFill>
                <a:latin typeface="Calibri" pitchFamily="34" charset="0"/>
                <a:ea typeface="Calibri" pitchFamily="34" charset="-122"/>
                <a:cs typeface="Calibri" pitchFamily="34" charset="-120"/>
              </a:rPr>
              <a:t>The default treats both errors as equal. A missed churner costs the customer, a false alarm costs one voucher. Lowering the threshold raised recall from 68% to 89%, deliberately trading precision for the cheaper error.</a:t>
            </a:r>
            <a:endParaRPr lang="en-US" sz="1100" dirty="0"/>
          </a:p>
        </p:txBody>
      </p:sp>
      <p:sp>
        <p:nvSpPr>
          <p:cNvPr id="15" name="Shape 13"/>
          <p:cNvSpPr/>
          <p:nvPr/>
        </p:nvSpPr>
        <p:spPr>
          <a:xfrm>
            <a:off x="6217920" y="3383280"/>
            <a:ext cx="5303520" cy="2514600"/>
          </a:xfrm>
          <a:prstGeom prst="roundRect">
            <a:avLst>
              <a:gd name="adj" fmla="val 2182"/>
            </a:avLst>
          </a:prstGeom>
          <a:solidFill>
            <a:srgbClr val="10333A"/>
          </a:solidFill>
          <a:ln w="12700">
            <a:solidFill>
              <a:srgbClr val="10333A"/>
            </a:solidFill>
            <a:prstDash val="solid"/>
          </a:ln>
        </p:spPr>
        <p:txBody>
          <a:bodyPr/>
          <a:lstStyle/>
          <a:p>
            <a:endParaRPr lang="en-US"/>
          </a:p>
        </p:txBody>
      </p:sp>
      <p:sp>
        <p:nvSpPr>
          <p:cNvPr id="16" name="Text 14"/>
          <p:cNvSpPr/>
          <p:nvPr/>
        </p:nvSpPr>
        <p:spPr>
          <a:xfrm>
            <a:off x="6492240" y="3566160"/>
            <a:ext cx="4754880" cy="320040"/>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Test AUC matches CV AUC</a:t>
            </a:r>
            <a:endParaRPr lang="en-US" sz="1300" dirty="0"/>
          </a:p>
        </p:txBody>
      </p:sp>
      <p:sp>
        <p:nvSpPr>
          <p:cNvPr id="17" name="Text 15"/>
          <p:cNvSpPr/>
          <p:nvPr/>
        </p:nvSpPr>
        <p:spPr>
          <a:xfrm>
            <a:off x="6492240" y="3931920"/>
            <a:ext cx="4754880" cy="1737360"/>
          </a:xfrm>
          <a:prstGeom prst="rect">
            <a:avLst/>
          </a:prstGeom>
          <a:noFill/>
          <a:ln/>
        </p:spPr>
        <p:txBody>
          <a:bodyPr wrap="square" lIns="0" tIns="0" rIns="0" bIns="0" rtlCol="0" anchor="ctr"/>
          <a:lstStyle/>
          <a:p>
            <a:pPr marL="0" indent="0">
              <a:buNone/>
            </a:pPr>
            <a:r>
              <a:rPr lang="en-US" sz="1100" dirty="0">
                <a:solidFill>
                  <a:srgbClr val="BBD4D8"/>
                </a:solidFill>
                <a:latin typeface="Calibri" pitchFamily="34" charset="0"/>
                <a:ea typeface="Calibri" pitchFamily="34" charset="-122"/>
                <a:cs typeface="Calibri" pitchFamily="34" charset="-120"/>
              </a:rPr>
              <a:t>0.846 on held-out data against 0.844 in cross-validation. The model did not overfit the training process, the payoff of keeping every imputation and scaling step inside the pipeline, refitted per fold.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Which data source actually drives the model?</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Each feature block retrained in isolation — the answer was not the obvious one</a:t>
            </a:r>
            <a:endParaRPr lang="en-US" sz="1350" dirty="0"/>
          </a:p>
        </p:txBody>
      </p:sp>
      <p:graphicFrame>
        <p:nvGraphicFramePr>
          <p:cNvPr id="4" name="Chart 0"/>
          <p:cNvGraphicFramePr/>
          <p:nvPr/>
        </p:nvGraphicFramePr>
        <p:xfrm>
          <a:off x="640080" y="1737360"/>
          <a:ext cx="64008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06640" y="1737360"/>
            <a:ext cx="4114800" cy="3931920"/>
          </a:xfrm>
          <a:prstGeom prst="roundRect">
            <a:avLst>
              <a:gd name="adj" fmla="val 1395"/>
            </a:avLst>
          </a:prstGeom>
          <a:solidFill>
            <a:srgbClr val="10333A"/>
          </a:solidFill>
          <a:ln w="12700">
            <a:solidFill>
              <a:srgbClr val="10333A"/>
            </a:solidFill>
            <a:prstDash val="solid"/>
          </a:ln>
        </p:spPr>
        <p:txBody>
          <a:bodyPr/>
          <a:lstStyle/>
          <a:p>
            <a:endParaRPr lang="en-US"/>
          </a:p>
        </p:txBody>
      </p:sp>
      <p:sp>
        <p:nvSpPr>
          <p:cNvPr id="6" name="Text 3"/>
          <p:cNvSpPr/>
          <p:nvPr/>
        </p:nvSpPr>
        <p:spPr>
          <a:xfrm>
            <a:off x="7680960" y="1920240"/>
            <a:ext cx="3566160" cy="320040"/>
          </a:xfrm>
          <a:prstGeom prst="rect">
            <a:avLst/>
          </a:prstGeom>
          <a:noFill/>
          <a:ln/>
        </p:spPr>
        <p:txBody>
          <a:bodyPr wrap="square" lIns="0" tIns="0" rIns="0" bIns="0" rtlCol="0" anchor="ctr"/>
          <a:lstStyle/>
          <a:p>
            <a:pPr marL="0" indent="0">
              <a:buNone/>
            </a:pPr>
            <a:r>
              <a:rPr lang="en-US" sz="1350" b="1" dirty="0">
                <a:solidFill>
                  <a:srgbClr val="02C39A"/>
                </a:solidFill>
                <a:latin typeface="Calibri" pitchFamily="34" charset="0"/>
                <a:ea typeface="Calibri" pitchFamily="34" charset="-122"/>
                <a:cs typeface="Calibri" pitchFamily="34" charset="-120"/>
              </a:rPr>
              <a:t>The finding</a:t>
            </a:r>
            <a:endParaRPr lang="en-US" sz="1350" dirty="0"/>
          </a:p>
        </p:txBody>
      </p:sp>
      <p:sp>
        <p:nvSpPr>
          <p:cNvPr id="7" name="Text 4"/>
          <p:cNvSpPr/>
          <p:nvPr/>
        </p:nvSpPr>
        <p:spPr>
          <a:xfrm>
            <a:off x="7680960" y="2286000"/>
            <a:ext cx="3566160" cy="3200400"/>
          </a:xfrm>
          <a:prstGeom prst="rect">
            <a:avLst/>
          </a:prstGeom>
          <a:noFill/>
          <a:ln/>
        </p:spPr>
        <p:txBody>
          <a:bodyPr wrap="square" lIns="0" tIns="0" rIns="0" bIns="0" rtlCol="0" anchor="ctr"/>
          <a:lstStyle/>
          <a:p>
            <a:pPr marL="0" indent="0">
              <a:lnSpc>
                <a:spcPts val="1500"/>
              </a:lnSpc>
              <a:buNone/>
            </a:pPr>
            <a:r>
              <a:rPr lang="en-US" sz="1100" b="1" dirty="0">
                <a:solidFill>
                  <a:srgbClr val="FFFFFF"/>
                </a:solidFill>
                <a:latin typeface="Calibri" pitchFamily="34" charset="0"/>
                <a:ea typeface="Calibri" pitchFamily="34" charset="-122"/>
                <a:cs typeface="Calibri" pitchFamily="34" charset="-120"/>
              </a:rPr>
              <a:t>Clickstream behaviour alone (0.839) essentially matches the full model (0.844).
</a:t>
            </a:r>
            <a:r>
              <a:rPr lang="en-US" sz="1100" dirty="0">
                <a:solidFill>
                  <a:srgbClr val="BBD4D8"/>
                </a:solidFill>
                <a:latin typeface="Calibri" pitchFamily="34" charset="0"/>
                <a:ea typeface="Calibri" pitchFamily="34" charset="-122"/>
                <a:cs typeface="Calibri" pitchFamily="34" charset="-120"/>
              </a:rPr>
              <a:t>Demographics barely beat chance. Purchase history helps. But browsing behaviour is carrying the prediction.
</a:t>
            </a:r>
            <a:r>
              <a:rPr lang="en-US" sz="1100" b="1" dirty="0">
                <a:solidFill>
                  <a:srgbClr val="02C39A"/>
                </a:solidFill>
                <a:latin typeface="Calibri" pitchFamily="34" charset="0"/>
                <a:ea typeface="Calibri" pitchFamily="34" charset="-122"/>
                <a:cs typeface="Calibri" pitchFamily="34" charset="-120"/>
              </a:rPr>
              <a:t>Why it matters: </a:t>
            </a:r>
            <a:r>
              <a:rPr lang="en-US" sz="1100" dirty="0">
                <a:solidFill>
                  <a:srgbClr val="BBD4D8"/>
                </a:solidFill>
                <a:latin typeface="Calibri" pitchFamily="34" charset="0"/>
                <a:ea typeface="Calibri" pitchFamily="34" charset="-122"/>
                <a:cs typeface="Calibri" pitchFamily="34" charset="-120"/>
              </a:rPr>
              <a:t>people go quiet in their browsing before they stop buying. The clickstream is the early-warning signal — and that justifies the streaming architecture as capturing the asset that actually predicts churn.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Feature selection: 98 down to 28</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Engineering and selection are different steps, the ablation showed 67 features bought 0.006 AUC</a:t>
            </a:r>
            <a:endParaRPr lang="en-US" sz="1350" dirty="0"/>
          </a:p>
        </p:txBody>
      </p:sp>
      <p:graphicFrame>
        <p:nvGraphicFramePr>
          <p:cNvPr id="4" name="Chart 0"/>
          <p:cNvGraphicFramePr/>
          <p:nvPr/>
        </p:nvGraphicFramePr>
        <p:xfrm>
          <a:off x="640080" y="1783080"/>
          <a:ext cx="594360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49440" y="1463039"/>
            <a:ext cx="4572000" cy="4741817"/>
          </a:xfrm>
          <a:prstGeom prst="roundRect">
            <a:avLst>
              <a:gd name="adj" fmla="val 1412"/>
            </a:avLst>
          </a:prstGeom>
          <a:solidFill>
            <a:srgbClr val="F1F7F7"/>
          </a:solidFill>
          <a:ln w="12700">
            <a:solidFill>
              <a:srgbClr val="F1F7F7"/>
            </a:solidFill>
            <a:prstDash val="solid"/>
          </a:ln>
        </p:spPr>
        <p:txBody>
          <a:bodyPr/>
          <a:lstStyle/>
          <a:p>
            <a:endParaRPr lang="en-US"/>
          </a:p>
        </p:txBody>
      </p:sp>
      <p:sp>
        <p:nvSpPr>
          <p:cNvPr id="6" name="Text 3"/>
          <p:cNvSpPr/>
          <p:nvPr/>
        </p:nvSpPr>
        <p:spPr>
          <a:xfrm>
            <a:off x="7223760" y="1938528"/>
            <a:ext cx="4023360" cy="320040"/>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Two selectors compared</a:t>
            </a:r>
            <a:endParaRPr lang="en-US" sz="1300" dirty="0"/>
          </a:p>
        </p:txBody>
      </p:sp>
      <p:sp>
        <p:nvSpPr>
          <p:cNvPr id="7" name="Text 4"/>
          <p:cNvSpPr/>
          <p:nvPr/>
        </p:nvSpPr>
        <p:spPr>
          <a:xfrm>
            <a:off x="7223760" y="2331720"/>
            <a:ext cx="1828800" cy="256032"/>
          </a:xfrm>
          <a:prstGeom prst="rect">
            <a:avLst/>
          </a:prstGeom>
          <a:noFill/>
          <a:ln/>
        </p:spPr>
        <p:txBody>
          <a:bodyPr wrap="square" lIns="0" tIns="0" rIns="0" bIns="0"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SELECTOR</a:t>
            </a:r>
            <a:endParaRPr lang="en-US" sz="850" dirty="0"/>
          </a:p>
        </p:txBody>
      </p:sp>
      <p:sp>
        <p:nvSpPr>
          <p:cNvPr id="8" name="Text 5"/>
          <p:cNvSpPr/>
          <p:nvPr/>
        </p:nvSpPr>
        <p:spPr>
          <a:xfrm>
            <a:off x="9144000" y="2331720"/>
            <a:ext cx="640080" cy="256032"/>
          </a:xfrm>
          <a:prstGeom prst="rect">
            <a:avLst/>
          </a:prstGeom>
          <a:noFill/>
          <a:ln/>
        </p:spPr>
        <p:txBody>
          <a:bodyPr wrap="square" lIns="0" tIns="0" rIns="0" bIns="0" rtlCol="0" anchor="ctr"/>
          <a:lstStyle/>
          <a:p>
            <a:pPr marL="0" indent="0" algn="r">
              <a:buNone/>
            </a:pPr>
            <a:r>
              <a:rPr lang="en-US" sz="850" b="1" dirty="0">
                <a:solidFill>
                  <a:srgbClr val="028090"/>
                </a:solidFill>
                <a:latin typeface="Calibri" pitchFamily="34" charset="0"/>
                <a:ea typeface="Calibri" pitchFamily="34" charset="-122"/>
                <a:cs typeface="Calibri" pitchFamily="34" charset="-120"/>
              </a:rPr>
              <a:t>N</a:t>
            </a:r>
            <a:endParaRPr lang="en-US" sz="850" dirty="0"/>
          </a:p>
        </p:txBody>
      </p:sp>
      <p:sp>
        <p:nvSpPr>
          <p:cNvPr id="9" name="Text 6"/>
          <p:cNvSpPr/>
          <p:nvPr/>
        </p:nvSpPr>
        <p:spPr>
          <a:xfrm>
            <a:off x="9875520" y="2331720"/>
            <a:ext cx="1280160" cy="256032"/>
          </a:xfrm>
          <a:prstGeom prst="rect">
            <a:avLst/>
          </a:prstGeom>
          <a:noFill/>
          <a:ln/>
        </p:spPr>
        <p:txBody>
          <a:bodyPr wrap="square" lIns="0" tIns="0" rIns="0" bIns="0" rtlCol="0" anchor="ctr"/>
          <a:lstStyle/>
          <a:p>
            <a:pPr marL="0" indent="0" algn="r">
              <a:buNone/>
            </a:pPr>
            <a:r>
              <a:rPr lang="en-US" sz="850" b="1" dirty="0">
                <a:solidFill>
                  <a:srgbClr val="028090"/>
                </a:solidFill>
                <a:latin typeface="Calibri" pitchFamily="34" charset="0"/>
                <a:ea typeface="Calibri" pitchFamily="34" charset="-122"/>
                <a:cs typeface="Calibri" pitchFamily="34" charset="-120"/>
              </a:rPr>
              <a:t>TEST AUC</a:t>
            </a:r>
            <a:endParaRPr lang="en-US" sz="850" dirty="0"/>
          </a:p>
        </p:txBody>
      </p:sp>
      <p:sp>
        <p:nvSpPr>
          <p:cNvPr id="10" name="Text 7"/>
          <p:cNvSpPr/>
          <p:nvPr/>
        </p:nvSpPr>
        <p:spPr>
          <a:xfrm>
            <a:off x="7223760" y="2633472"/>
            <a:ext cx="1828800" cy="365760"/>
          </a:xfrm>
          <a:prstGeom prst="rect">
            <a:avLst/>
          </a:prstGeom>
          <a:noFill/>
          <a:ln/>
        </p:spPr>
        <p:txBody>
          <a:bodyPr wrap="square" lIns="0" tIns="0" rIns="0" bIns="0" rtlCol="0" anchor="ctr"/>
          <a:lstStyle/>
          <a:p>
            <a:pPr marL="0" indent="0">
              <a:buNone/>
            </a:pPr>
            <a:r>
              <a:rPr lang="en-US" sz="1100" dirty="0">
                <a:solidFill>
                  <a:srgbClr val="10333A"/>
                </a:solidFill>
                <a:latin typeface="Calibri" pitchFamily="34" charset="0"/>
                <a:ea typeface="Calibri" pitchFamily="34" charset="-122"/>
                <a:cs typeface="Calibri" pitchFamily="34" charset="-120"/>
              </a:rPr>
              <a:t>All features</a:t>
            </a:r>
            <a:endParaRPr lang="en-US" sz="1100" dirty="0"/>
          </a:p>
        </p:txBody>
      </p:sp>
      <p:sp>
        <p:nvSpPr>
          <p:cNvPr id="11" name="Text 8"/>
          <p:cNvSpPr/>
          <p:nvPr/>
        </p:nvSpPr>
        <p:spPr>
          <a:xfrm>
            <a:off x="9144000" y="2633472"/>
            <a:ext cx="640080" cy="365760"/>
          </a:xfrm>
          <a:prstGeom prst="rect">
            <a:avLst/>
          </a:prstGeom>
          <a:noFill/>
          <a:ln/>
        </p:spPr>
        <p:txBody>
          <a:bodyPr wrap="square" lIns="0" tIns="0" rIns="0" bIns="0" rtlCol="0" anchor="ctr"/>
          <a:lstStyle/>
          <a:p>
            <a:pPr marL="0" indent="0" algn="r">
              <a:buNone/>
            </a:pPr>
            <a:r>
              <a:rPr lang="en-US" sz="1100" dirty="0">
                <a:solidFill>
                  <a:srgbClr val="4A6670"/>
                </a:solidFill>
                <a:latin typeface="Calibri" pitchFamily="34" charset="0"/>
                <a:ea typeface="Calibri" pitchFamily="34" charset="-122"/>
                <a:cs typeface="Calibri" pitchFamily="34" charset="-120"/>
              </a:rPr>
              <a:t>98</a:t>
            </a:r>
            <a:endParaRPr lang="en-US" sz="1100" dirty="0"/>
          </a:p>
        </p:txBody>
      </p:sp>
      <p:sp>
        <p:nvSpPr>
          <p:cNvPr id="12" name="Text 9"/>
          <p:cNvSpPr/>
          <p:nvPr/>
        </p:nvSpPr>
        <p:spPr>
          <a:xfrm>
            <a:off x="9875520" y="2633472"/>
            <a:ext cx="1280160" cy="365760"/>
          </a:xfrm>
          <a:prstGeom prst="rect">
            <a:avLst/>
          </a:prstGeom>
          <a:noFill/>
          <a:ln/>
        </p:spPr>
        <p:txBody>
          <a:bodyPr wrap="square" lIns="0" tIns="0" rIns="0" bIns="0" rtlCol="0" anchor="ctr"/>
          <a:lstStyle/>
          <a:p>
            <a:pPr marL="0" indent="0" algn="r">
              <a:buNone/>
            </a:pPr>
            <a:r>
              <a:rPr lang="en-US" sz="1100" b="1" dirty="0">
                <a:solidFill>
                  <a:srgbClr val="9AA9AD"/>
                </a:solidFill>
                <a:latin typeface="Calibri" pitchFamily="34" charset="0"/>
                <a:ea typeface="Calibri" pitchFamily="34" charset="-122"/>
                <a:cs typeface="Calibri" pitchFamily="34" charset="-120"/>
              </a:rPr>
              <a:t>0.8456</a:t>
            </a:r>
            <a:endParaRPr lang="en-US" sz="1100" dirty="0"/>
          </a:p>
        </p:txBody>
      </p:sp>
      <p:sp>
        <p:nvSpPr>
          <p:cNvPr id="13" name="Text 10"/>
          <p:cNvSpPr/>
          <p:nvPr/>
        </p:nvSpPr>
        <p:spPr>
          <a:xfrm>
            <a:off x="7223760" y="3054096"/>
            <a:ext cx="1828800" cy="365760"/>
          </a:xfrm>
          <a:prstGeom prst="rect">
            <a:avLst/>
          </a:prstGeom>
          <a:noFill/>
          <a:ln/>
        </p:spPr>
        <p:txBody>
          <a:bodyPr wrap="square" lIns="0" tIns="0" rIns="0" bIns="0" rtlCol="0" anchor="ctr"/>
          <a:lstStyle/>
          <a:p>
            <a:pPr marL="0" indent="0">
              <a:buNone/>
            </a:pPr>
            <a:r>
              <a:rPr lang="en-US" sz="1100" b="1" dirty="0">
                <a:solidFill>
                  <a:srgbClr val="10333A"/>
                </a:solidFill>
                <a:latin typeface="Calibri" pitchFamily="34" charset="0"/>
                <a:ea typeface="Calibri" pitchFamily="34" charset="-122"/>
                <a:cs typeface="Calibri" pitchFamily="34" charset="-120"/>
              </a:rPr>
              <a:t>L1 / Lasso</a:t>
            </a:r>
            <a:endParaRPr lang="en-US" sz="1100" dirty="0"/>
          </a:p>
        </p:txBody>
      </p:sp>
      <p:sp>
        <p:nvSpPr>
          <p:cNvPr id="14" name="Text 11"/>
          <p:cNvSpPr/>
          <p:nvPr/>
        </p:nvSpPr>
        <p:spPr>
          <a:xfrm>
            <a:off x="9144000" y="3054096"/>
            <a:ext cx="640080" cy="365760"/>
          </a:xfrm>
          <a:prstGeom prst="rect">
            <a:avLst/>
          </a:prstGeom>
          <a:noFill/>
          <a:ln/>
        </p:spPr>
        <p:txBody>
          <a:bodyPr wrap="square" lIns="0" tIns="0" rIns="0" bIns="0" rtlCol="0" anchor="ctr"/>
          <a:lstStyle/>
          <a:p>
            <a:pPr marL="0" indent="0" algn="r">
              <a:buNone/>
            </a:pPr>
            <a:r>
              <a:rPr lang="en-US" sz="1100" dirty="0">
                <a:solidFill>
                  <a:srgbClr val="4A6670"/>
                </a:solidFill>
                <a:latin typeface="Calibri" pitchFamily="34" charset="0"/>
                <a:ea typeface="Calibri" pitchFamily="34" charset="-122"/>
                <a:cs typeface="Calibri" pitchFamily="34" charset="-120"/>
              </a:rPr>
              <a:t>28</a:t>
            </a:r>
            <a:endParaRPr lang="en-US" sz="1100" dirty="0"/>
          </a:p>
        </p:txBody>
      </p:sp>
      <p:sp>
        <p:nvSpPr>
          <p:cNvPr id="15" name="Text 12"/>
          <p:cNvSpPr/>
          <p:nvPr/>
        </p:nvSpPr>
        <p:spPr>
          <a:xfrm>
            <a:off x="9875520" y="3054096"/>
            <a:ext cx="1280160" cy="365760"/>
          </a:xfrm>
          <a:prstGeom prst="rect">
            <a:avLst/>
          </a:prstGeom>
          <a:noFill/>
          <a:ln/>
        </p:spPr>
        <p:txBody>
          <a:bodyPr wrap="square" lIns="0" tIns="0" rIns="0" bIns="0" rtlCol="0" anchor="ctr"/>
          <a:lstStyle/>
          <a:p>
            <a:pPr marL="0" indent="0" algn="r">
              <a:buNone/>
            </a:pPr>
            <a:r>
              <a:rPr lang="en-US" sz="1100" b="1" dirty="0">
                <a:solidFill>
                  <a:srgbClr val="028090"/>
                </a:solidFill>
                <a:latin typeface="Calibri" pitchFamily="34" charset="0"/>
                <a:ea typeface="Calibri" pitchFamily="34" charset="-122"/>
                <a:cs typeface="Calibri" pitchFamily="34" charset="-120"/>
              </a:rPr>
              <a:t>0.8487</a:t>
            </a:r>
            <a:endParaRPr lang="en-US" sz="1100" dirty="0"/>
          </a:p>
        </p:txBody>
      </p:sp>
      <p:sp>
        <p:nvSpPr>
          <p:cNvPr id="16" name="Text 13"/>
          <p:cNvSpPr/>
          <p:nvPr/>
        </p:nvSpPr>
        <p:spPr>
          <a:xfrm>
            <a:off x="7223760" y="3474720"/>
            <a:ext cx="1828800" cy="365760"/>
          </a:xfrm>
          <a:prstGeom prst="rect">
            <a:avLst/>
          </a:prstGeom>
          <a:noFill/>
          <a:ln/>
        </p:spPr>
        <p:txBody>
          <a:bodyPr wrap="square" lIns="0" tIns="0" rIns="0" bIns="0" rtlCol="0" anchor="ctr"/>
          <a:lstStyle/>
          <a:p>
            <a:pPr marL="0" indent="0">
              <a:buNone/>
            </a:pPr>
            <a:r>
              <a:rPr lang="en-US" sz="1100" dirty="0">
                <a:solidFill>
                  <a:srgbClr val="10333A"/>
                </a:solidFill>
                <a:latin typeface="Calibri" pitchFamily="34" charset="0"/>
                <a:ea typeface="Calibri" pitchFamily="34" charset="-122"/>
                <a:cs typeface="Calibri" pitchFamily="34" charset="-120"/>
              </a:rPr>
              <a:t>Concept-grouped</a:t>
            </a:r>
            <a:endParaRPr lang="en-US" sz="1100" dirty="0"/>
          </a:p>
        </p:txBody>
      </p:sp>
      <p:sp>
        <p:nvSpPr>
          <p:cNvPr id="17" name="Text 14"/>
          <p:cNvSpPr/>
          <p:nvPr/>
        </p:nvSpPr>
        <p:spPr>
          <a:xfrm>
            <a:off x="9144000" y="3474720"/>
            <a:ext cx="640080" cy="365760"/>
          </a:xfrm>
          <a:prstGeom prst="rect">
            <a:avLst/>
          </a:prstGeom>
          <a:noFill/>
          <a:ln/>
        </p:spPr>
        <p:txBody>
          <a:bodyPr wrap="square" lIns="0" tIns="0" rIns="0" bIns="0" rtlCol="0" anchor="ctr"/>
          <a:lstStyle/>
          <a:p>
            <a:pPr marL="0" indent="0" algn="r">
              <a:buNone/>
            </a:pPr>
            <a:r>
              <a:rPr lang="en-US" sz="1100" dirty="0">
                <a:solidFill>
                  <a:srgbClr val="4A6670"/>
                </a:solidFill>
                <a:latin typeface="Calibri" pitchFamily="34" charset="0"/>
                <a:ea typeface="Calibri" pitchFamily="34" charset="-122"/>
                <a:cs typeface="Calibri" pitchFamily="34" charset="-120"/>
              </a:rPr>
              <a:t>25</a:t>
            </a:r>
            <a:endParaRPr lang="en-US" sz="1100" dirty="0"/>
          </a:p>
        </p:txBody>
      </p:sp>
      <p:sp>
        <p:nvSpPr>
          <p:cNvPr id="18" name="Text 15"/>
          <p:cNvSpPr/>
          <p:nvPr/>
        </p:nvSpPr>
        <p:spPr>
          <a:xfrm>
            <a:off x="9875520" y="3474720"/>
            <a:ext cx="1280160" cy="365760"/>
          </a:xfrm>
          <a:prstGeom prst="rect">
            <a:avLst/>
          </a:prstGeom>
          <a:noFill/>
          <a:ln/>
        </p:spPr>
        <p:txBody>
          <a:bodyPr wrap="square" lIns="0" tIns="0" rIns="0" bIns="0" rtlCol="0" anchor="ctr"/>
          <a:lstStyle/>
          <a:p>
            <a:pPr marL="0" indent="0" algn="r">
              <a:buNone/>
            </a:pPr>
            <a:r>
              <a:rPr lang="en-US" sz="1100" b="1" dirty="0">
                <a:solidFill>
                  <a:srgbClr val="00A896"/>
                </a:solidFill>
                <a:latin typeface="Calibri" pitchFamily="34" charset="0"/>
                <a:ea typeface="Calibri" pitchFamily="34" charset="-122"/>
                <a:cs typeface="Calibri" pitchFamily="34" charset="-120"/>
              </a:rPr>
              <a:t>0.8471</a:t>
            </a:r>
            <a:endParaRPr lang="en-US" sz="1100" dirty="0"/>
          </a:p>
        </p:txBody>
      </p:sp>
      <p:sp>
        <p:nvSpPr>
          <p:cNvPr id="19" name="Text 16"/>
          <p:cNvSpPr/>
          <p:nvPr/>
        </p:nvSpPr>
        <p:spPr>
          <a:xfrm>
            <a:off x="7223760" y="3895344"/>
            <a:ext cx="1828800" cy="365760"/>
          </a:xfrm>
          <a:prstGeom prst="rect">
            <a:avLst/>
          </a:prstGeom>
          <a:noFill/>
          <a:ln/>
        </p:spPr>
        <p:txBody>
          <a:bodyPr wrap="square" lIns="0" tIns="0" rIns="0" bIns="0" rtlCol="0" anchor="ctr"/>
          <a:lstStyle/>
          <a:p>
            <a:pPr marL="0" indent="0">
              <a:buNone/>
            </a:pPr>
            <a:r>
              <a:rPr lang="en-US" sz="1100" dirty="0">
                <a:solidFill>
                  <a:srgbClr val="10333A"/>
                </a:solidFill>
                <a:latin typeface="Calibri" pitchFamily="34" charset="0"/>
                <a:ea typeface="Calibri" pitchFamily="34" charset="-122"/>
                <a:cs typeface="Calibri" pitchFamily="34" charset="-120"/>
              </a:rPr>
              <a:t>Behavioural only</a:t>
            </a:r>
            <a:endParaRPr lang="en-US" sz="1100" dirty="0"/>
          </a:p>
        </p:txBody>
      </p:sp>
      <p:sp>
        <p:nvSpPr>
          <p:cNvPr id="20" name="Text 17"/>
          <p:cNvSpPr/>
          <p:nvPr/>
        </p:nvSpPr>
        <p:spPr>
          <a:xfrm>
            <a:off x="9144000" y="3895344"/>
            <a:ext cx="640080" cy="365760"/>
          </a:xfrm>
          <a:prstGeom prst="rect">
            <a:avLst/>
          </a:prstGeom>
          <a:noFill/>
          <a:ln/>
        </p:spPr>
        <p:txBody>
          <a:bodyPr wrap="square" lIns="0" tIns="0" rIns="0" bIns="0" rtlCol="0" anchor="ctr"/>
          <a:lstStyle/>
          <a:p>
            <a:pPr marL="0" indent="0" algn="r">
              <a:buNone/>
            </a:pPr>
            <a:r>
              <a:rPr lang="en-US" sz="1100" dirty="0">
                <a:solidFill>
                  <a:srgbClr val="4A6670"/>
                </a:solidFill>
                <a:latin typeface="Calibri" pitchFamily="34" charset="0"/>
                <a:ea typeface="Calibri" pitchFamily="34" charset="-122"/>
                <a:cs typeface="Calibri" pitchFamily="34" charset="-120"/>
              </a:rPr>
              <a:t>31</a:t>
            </a:r>
            <a:endParaRPr lang="en-US" sz="1100" dirty="0"/>
          </a:p>
        </p:txBody>
      </p:sp>
      <p:sp>
        <p:nvSpPr>
          <p:cNvPr id="21" name="Text 18"/>
          <p:cNvSpPr/>
          <p:nvPr/>
        </p:nvSpPr>
        <p:spPr>
          <a:xfrm>
            <a:off x="9875520" y="3895344"/>
            <a:ext cx="1280160" cy="365760"/>
          </a:xfrm>
          <a:prstGeom prst="rect">
            <a:avLst/>
          </a:prstGeom>
          <a:noFill/>
          <a:ln/>
        </p:spPr>
        <p:txBody>
          <a:bodyPr wrap="square" lIns="0" tIns="0" rIns="0" bIns="0" rtlCol="0" anchor="ctr"/>
          <a:lstStyle/>
          <a:p>
            <a:pPr marL="0" indent="0" algn="r">
              <a:buNone/>
            </a:pPr>
            <a:r>
              <a:rPr lang="en-US" sz="1100" b="1" dirty="0">
                <a:solidFill>
                  <a:srgbClr val="02C39A"/>
                </a:solidFill>
                <a:latin typeface="Calibri" pitchFamily="34" charset="0"/>
                <a:ea typeface="Calibri" pitchFamily="34" charset="-122"/>
                <a:cs typeface="Calibri" pitchFamily="34" charset="-120"/>
              </a:rPr>
              <a:t>0.8485</a:t>
            </a:r>
            <a:endParaRPr lang="en-US" sz="1100" dirty="0"/>
          </a:p>
        </p:txBody>
      </p:sp>
      <p:sp>
        <p:nvSpPr>
          <p:cNvPr id="22" name="Text 19"/>
          <p:cNvSpPr/>
          <p:nvPr/>
        </p:nvSpPr>
        <p:spPr>
          <a:xfrm>
            <a:off x="7223760" y="4434840"/>
            <a:ext cx="4023360" cy="1325880"/>
          </a:xfrm>
          <a:prstGeom prst="rect">
            <a:avLst/>
          </a:prstGeom>
          <a:noFill/>
          <a:ln/>
        </p:spPr>
        <p:txBody>
          <a:bodyPr wrap="square" lIns="0" tIns="0" rIns="0" bIns="0" rtlCol="0" anchor="ctr"/>
          <a:lstStyle/>
          <a:p>
            <a:pPr marL="0" indent="0">
              <a:lnSpc>
                <a:spcPts val="1300"/>
              </a:lnSpc>
              <a:buNone/>
            </a:pPr>
            <a:r>
              <a:rPr lang="en-US" sz="1200" dirty="0">
                <a:solidFill>
                  <a:srgbClr val="4A6670"/>
                </a:solidFill>
                <a:latin typeface="Calibri" pitchFamily="34" charset="0"/>
                <a:ea typeface="Calibri" pitchFamily="34" charset="-122"/>
                <a:cs typeface="Calibri" pitchFamily="34" charset="-120"/>
              </a:rPr>
              <a:t>L1-penalised logistic regression drives uninformative coefficients to zero and resolves redundancy automatically, given a correlated group it keeps one and drops the rest.
</a:t>
            </a:r>
            <a:r>
              <a:rPr lang="en-US" sz="1200" b="1" dirty="0">
                <a:solidFill>
                  <a:srgbClr val="10333A"/>
                </a:solidFill>
                <a:latin typeface="Calibri" pitchFamily="34" charset="0"/>
                <a:ea typeface="Calibri" pitchFamily="34" charset="-122"/>
                <a:cs typeface="Calibri" pitchFamily="34" charset="-120"/>
              </a:rPr>
              <a:t>Pruning 71% of the features did not cost accuracy. </a:t>
            </a:r>
            <a:r>
              <a:rPr lang="en-US" sz="1200" dirty="0">
                <a:solidFill>
                  <a:srgbClr val="4A6670"/>
                </a:solidFill>
                <a:latin typeface="Calibri" pitchFamily="34" charset="0"/>
                <a:ea typeface="Calibri" pitchFamily="34" charset="-122"/>
                <a:cs typeface="Calibri" pitchFamily="34" charset="-120"/>
              </a:rPr>
              <a:t>The honest claim is "no loss", not "a better model“,  0.003 is within fold noise. But the pruned model is explainable, cheaper to maintain, and its importances are interpretable.</a:t>
            </a:r>
            <a:endParaRPr lang="en-US" sz="1200" dirty="0"/>
          </a:p>
        </p:txBody>
      </p:sp>
      <p:sp>
        <p:nvSpPr>
          <p:cNvPr id="23" name="Text 20"/>
          <p:cNvSpPr/>
          <p:nvPr/>
        </p:nvSpPr>
        <p:spPr>
          <a:xfrm>
            <a:off x="640080" y="5806440"/>
            <a:ext cx="10881360" cy="320040"/>
          </a:xfrm>
          <a:prstGeom prst="rect">
            <a:avLst/>
          </a:prstGeom>
          <a:noFill/>
          <a:ln/>
        </p:spPr>
        <p:txBody>
          <a:bodyPr wrap="square" lIns="0" tIns="0" rIns="0" bIns="0" rtlCol="0" anchor="ctr"/>
          <a:lstStyle/>
          <a:p>
            <a:pPr marL="0" indent="0">
              <a:buNone/>
            </a:pPr>
            <a:r>
              <a:rPr lang="en-US" sz="1200" b="1" i="1" dirty="0">
                <a:solidFill>
                  <a:srgbClr val="028090"/>
                </a:solidFill>
                <a:latin typeface="Calibri" pitchFamily="34" charset="0"/>
                <a:ea typeface="Calibri" pitchFamily="34" charset="-122"/>
                <a:cs typeface="Calibri" pitchFamily="34" charset="-120"/>
              </a:rPr>
              <a:t>Engineer broadly to explore. Select to ship.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What separates churners from loyal customers</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Churn rate by acquisition channel — a 21-point spread</a:t>
            </a:r>
            <a:endParaRPr lang="en-US" sz="1350" dirty="0"/>
          </a:p>
        </p:txBody>
      </p:sp>
      <p:graphicFrame>
        <p:nvGraphicFramePr>
          <p:cNvPr id="4" name="Chart 0"/>
          <p:cNvGraphicFramePr/>
          <p:nvPr/>
        </p:nvGraphicFramePr>
        <p:xfrm>
          <a:off x="640080" y="1737360"/>
          <a:ext cx="66751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737359"/>
            <a:ext cx="3840480" cy="4336869"/>
          </a:xfrm>
          <a:prstGeom prst="roundRect">
            <a:avLst>
              <a:gd name="adj" fmla="val 1429"/>
            </a:avLst>
          </a:prstGeom>
          <a:solidFill>
            <a:srgbClr val="F1F7F7"/>
          </a:solidFill>
          <a:ln w="12700">
            <a:solidFill>
              <a:srgbClr val="F1F7F7"/>
            </a:solidFill>
            <a:prstDash val="solid"/>
          </a:ln>
        </p:spPr>
        <p:txBody>
          <a:bodyPr/>
          <a:lstStyle/>
          <a:p>
            <a:endParaRPr lang="en-US"/>
          </a:p>
        </p:txBody>
      </p:sp>
      <p:sp>
        <p:nvSpPr>
          <p:cNvPr id="6" name="Text 3"/>
          <p:cNvSpPr/>
          <p:nvPr/>
        </p:nvSpPr>
        <p:spPr>
          <a:xfrm>
            <a:off x="7909560" y="1901952"/>
            <a:ext cx="3383280" cy="320040"/>
          </a:xfrm>
          <a:prstGeom prst="rect">
            <a:avLst/>
          </a:prstGeom>
          <a:noFill/>
          <a:ln/>
        </p:spPr>
        <p:txBody>
          <a:bodyPr wrap="square" lIns="0" tIns="0" rIns="0" bIns="0" rtlCol="0" anchor="ctr"/>
          <a:lstStyle/>
          <a:p>
            <a:pPr marL="0" indent="0">
              <a:buNone/>
            </a:pPr>
            <a:r>
              <a:rPr lang="en-US" sz="1300" b="1" dirty="0">
                <a:solidFill>
                  <a:srgbClr val="10333A"/>
                </a:solidFill>
                <a:latin typeface="Calibri" pitchFamily="34" charset="0"/>
                <a:ea typeface="Calibri" pitchFamily="34" charset="-122"/>
                <a:cs typeface="Calibri" pitchFamily="34" charset="-120"/>
              </a:rPr>
              <a:t>Three other drivers</a:t>
            </a:r>
            <a:endParaRPr lang="en-US" sz="1300" dirty="0"/>
          </a:p>
        </p:txBody>
      </p:sp>
      <p:sp>
        <p:nvSpPr>
          <p:cNvPr id="7" name="Shape 4"/>
          <p:cNvSpPr/>
          <p:nvPr/>
        </p:nvSpPr>
        <p:spPr>
          <a:xfrm>
            <a:off x="7909560" y="2359152"/>
            <a:ext cx="219456" cy="219456"/>
          </a:xfrm>
          <a:prstGeom prst="ellipse">
            <a:avLst/>
          </a:prstGeom>
          <a:solidFill>
            <a:srgbClr val="028090"/>
          </a:solidFill>
          <a:ln/>
        </p:spPr>
        <p:txBody>
          <a:bodyPr/>
          <a:lstStyle/>
          <a:p>
            <a:endParaRPr lang="en-US"/>
          </a:p>
        </p:txBody>
      </p:sp>
      <p:sp>
        <p:nvSpPr>
          <p:cNvPr id="8" name="Text 5"/>
          <p:cNvSpPr/>
          <p:nvPr/>
        </p:nvSpPr>
        <p:spPr>
          <a:xfrm>
            <a:off x="8247888" y="2295144"/>
            <a:ext cx="3063240" cy="27432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Discount dependency</a:t>
            </a:r>
            <a:endParaRPr lang="en-US" sz="1150" dirty="0"/>
          </a:p>
        </p:txBody>
      </p:sp>
      <p:sp>
        <p:nvSpPr>
          <p:cNvPr id="9" name="Text 6"/>
          <p:cNvSpPr/>
          <p:nvPr/>
        </p:nvSpPr>
        <p:spPr>
          <a:xfrm>
            <a:off x="8247888" y="2578608"/>
            <a:ext cx="3063240" cy="73152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Customers whose spend is heavily promo-subsidised churn more. Loyal to the discount, not the brand.</a:t>
            </a:r>
            <a:endParaRPr lang="en-US" sz="950" dirty="0"/>
          </a:p>
        </p:txBody>
      </p:sp>
      <p:sp>
        <p:nvSpPr>
          <p:cNvPr id="10" name="Shape 7"/>
          <p:cNvSpPr/>
          <p:nvPr/>
        </p:nvSpPr>
        <p:spPr>
          <a:xfrm>
            <a:off x="7909560" y="3383280"/>
            <a:ext cx="219456" cy="219456"/>
          </a:xfrm>
          <a:prstGeom prst="ellipse">
            <a:avLst/>
          </a:prstGeom>
          <a:solidFill>
            <a:srgbClr val="028090"/>
          </a:solidFill>
          <a:ln/>
        </p:spPr>
        <p:txBody>
          <a:bodyPr/>
          <a:lstStyle/>
          <a:p>
            <a:endParaRPr lang="en-US"/>
          </a:p>
        </p:txBody>
      </p:sp>
      <p:sp>
        <p:nvSpPr>
          <p:cNvPr id="11" name="Text 8"/>
          <p:cNvSpPr/>
          <p:nvPr/>
        </p:nvSpPr>
        <p:spPr>
          <a:xfrm>
            <a:off x="8247888" y="3319272"/>
            <a:ext cx="3063240" cy="27432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Delivery time</a:t>
            </a:r>
            <a:endParaRPr lang="en-US" sz="1150" dirty="0"/>
          </a:p>
        </p:txBody>
      </p:sp>
      <p:sp>
        <p:nvSpPr>
          <p:cNvPr id="12" name="Text 9"/>
          <p:cNvSpPr/>
          <p:nvPr/>
        </p:nvSpPr>
        <p:spPr>
          <a:xfrm>
            <a:off x="8247888" y="3602736"/>
            <a:ext cx="3063240" cy="73152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Churn rises steadily with average delivery days — reframing logistics as a retention lever.</a:t>
            </a:r>
            <a:endParaRPr lang="en-US" sz="950" dirty="0"/>
          </a:p>
        </p:txBody>
      </p:sp>
      <p:sp>
        <p:nvSpPr>
          <p:cNvPr id="13" name="Shape 10"/>
          <p:cNvSpPr/>
          <p:nvPr/>
        </p:nvSpPr>
        <p:spPr>
          <a:xfrm>
            <a:off x="7909560" y="4407408"/>
            <a:ext cx="219456" cy="219456"/>
          </a:xfrm>
          <a:prstGeom prst="ellipse">
            <a:avLst/>
          </a:prstGeom>
          <a:solidFill>
            <a:srgbClr val="028090"/>
          </a:solidFill>
          <a:ln/>
        </p:spPr>
        <p:txBody>
          <a:bodyPr/>
          <a:lstStyle/>
          <a:p>
            <a:endParaRPr lang="en-US"/>
          </a:p>
        </p:txBody>
      </p:sp>
      <p:sp>
        <p:nvSpPr>
          <p:cNvPr id="14" name="Text 11"/>
          <p:cNvSpPr/>
          <p:nvPr/>
        </p:nvSpPr>
        <p:spPr>
          <a:xfrm>
            <a:off x="8247888" y="4343400"/>
            <a:ext cx="3063240" cy="27432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Loyalty tier</a:t>
            </a:r>
            <a:endParaRPr lang="en-US" sz="1150" dirty="0"/>
          </a:p>
        </p:txBody>
      </p:sp>
      <p:sp>
        <p:nvSpPr>
          <p:cNvPr id="15" name="Text 12"/>
          <p:cNvSpPr/>
          <p:nvPr/>
        </p:nvSpPr>
        <p:spPr>
          <a:xfrm>
            <a:off x="8247888" y="4626864"/>
            <a:ext cx="3063240" cy="731520"/>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Higher tiers retain better, but tier is a symptom as much as a cause.</a:t>
            </a:r>
            <a:endParaRPr lang="en-US" sz="950" dirty="0"/>
          </a:p>
        </p:txBody>
      </p:sp>
      <p:sp>
        <p:nvSpPr>
          <p:cNvPr id="16" name="Text 13"/>
          <p:cNvSpPr/>
          <p:nvPr/>
        </p:nvSpPr>
        <p:spPr>
          <a:xfrm>
            <a:off x="7909560" y="5519990"/>
            <a:ext cx="3383280" cy="411480"/>
          </a:xfrm>
          <a:prstGeom prst="rect">
            <a:avLst/>
          </a:prstGeom>
          <a:noFill/>
          <a:ln/>
        </p:spPr>
        <p:txBody>
          <a:bodyPr wrap="square" lIns="0" tIns="0" rIns="0" bIns="0" rtlCol="0" anchor="ctr"/>
          <a:lstStyle/>
          <a:p>
            <a:pPr marL="0" indent="0">
              <a:buNone/>
            </a:pPr>
            <a:r>
              <a:rPr lang="en-US" sz="1200" i="1" dirty="0">
                <a:solidFill>
                  <a:srgbClr val="028090"/>
                </a:solidFill>
                <a:latin typeface="Calibri" pitchFamily="34" charset="0"/>
                <a:ea typeface="Calibri" pitchFamily="34" charset="-122"/>
                <a:cs typeface="Calibri" pitchFamily="34" charset="-120"/>
              </a:rPr>
              <a:t>These are associations, not proven causes. Confirming causation would need a controlled experiment — speed up delivery for a random subset and measure the difference.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333A"/>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From model score to retention campaign</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C39A"/>
                </a:solidFill>
                <a:latin typeface="Calibri" pitchFamily="34" charset="0"/>
                <a:ea typeface="Calibri" pitchFamily="34" charset="-122"/>
                <a:cs typeface="Calibri" pitchFamily="34" charset="-120"/>
              </a:rPr>
              <a:t>The deliverable is a ranked call list, not an AUC</a:t>
            </a:r>
            <a:endParaRPr lang="en-US" sz="1350" dirty="0"/>
          </a:p>
        </p:txBody>
      </p:sp>
      <p:sp>
        <p:nvSpPr>
          <p:cNvPr id="4" name="Shape 2"/>
          <p:cNvSpPr/>
          <p:nvPr/>
        </p:nvSpPr>
        <p:spPr>
          <a:xfrm>
            <a:off x="640080" y="1783080"/>
            <a:ext cx="5349240" cy="3931920"/>
          </a:xfrm>
          <a:prstGeom prst="roundRect">
            <a:avLst>
              <a:gd name="adj" fmla="val 1395"/>
            </a:avLst>
          </a:prstGeom>
          <a:solidFill>
            <a:srgbClr val="17414A"/>
          </a:solidFill>
          <a:ln w="12700">
            <a:solidFill>
              <a:srgbClr val="17414A"/>
            </a:solidFill>
            <a:prstDash val="solid"/>
          </a:ln>
        </p:spPr>
        <p:txBody>
          <a:bodyPr/>
          <a:lstStyle/>
          <a:p>
            <a:endParaRPr lang="en-US"/>
          </a:p>
        </p:txBody>
      </p:sp>
      <p:sp>
        <p:nvSpPr>
          <p:cNvPr id="5" name="Text 3"/>
          <p:cNvSpPr/>
          <p:nvPr/>
        </p:nvSpPr>
        <p:spPr>
          <a:xfrm>
            <a:off x="914400" y="1965960"/>
            <a:ext cx="4754880" cy="365760"/>
          </a:xfrm>
          <a:prstGeom prst="rect">
            <a:avLst/>
          </a:prstGeom>
          <a:noFill/>
          <a:ln/>
        </p:spPr>
        <p:txBody>
          <a:bodyPr wrap="square" lIns="0" tIns="0" rIns="0" bIns="0" rtlCol="0" anchor="ctr"/>
          <a:lstStyle/>
          <a:p>
            <a:pPr marL="0" indent="0">
              <a:buNone/>
            </a:pPr>
            <a:r>
              <a:rPr lang="en-US" sz="1450" b="1" dirty="0">
                <a:solidFill>
                  <a:srgbClr val="02C39A"/>
                </a:solidFill>
                <a:latin typeface="Calibri" pitchFamily="34" charset="0"/>
                <a:ea typeface="Calibri" pitchFamily="34" charset="-122"/>
                <a:cs typeface="Calibri" pitchFamily="34" charset="-120"/>
              </a:rPr>
              <a:t>Target the riskiest 20%</a:t>
            </a:r>
            <a:endParaRPr lang="en-US" sz="1450" dirty="0"/>
          </a:p>
        </p:txBody>
      </p:sp>
      <p:sp>
        <p:nvSpPr>
          <p:cNvPr id="6" name="Text 4"/>
          <p:cNvSpPr/>
          <p:nvPr/>
        </p:nvSpPr>
        <p:spPr>
          <a:xfrm>
            <a:off x="914400" y="2468880"/>
            <a:ext cx="219456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98%</a:t>
            </a:r>
            <a:endParaRPr lang="en-US" sz="4400" dirty="0"/>
          </a:p>
        </p:txBody>
      </p:sp>
      <p:sp>
        <p:nvSpPr>
          <p:cNvPr id="7" name="Text 5"/>
          <p:cNvSpPr/>
          <p:nvPr/>
        </p:nvSpPr>
        <p:spPr>
          <a:xfrm>
            <a:off x="914400" y="3291840"/>
            <a:ext cx="2194560" cy="548640"/>
          </a:xfrm>
          <a:prstGeom prst="rect">
            <a:avLst/>
          </a:prstGeom>
          <a:noFill/>
          <a:ln/>
        </p:spPr>
        <p:txBody>
          <a:bodyPr wrap="square" lIns="0" tIns="0" rIns="0" bIns="0" rtlCol="0" anchor="ctr"/>
          <a:lstStyle/>
          <a:p>
            <a:pPr marL="0" indent="0">
              <a:buNone/>
            </a:pPr>
            <a:r>
              <a:rPr lang="en-US" sz="1050" dirty="0">
                <a:solidFill>
                  <a:srgbClr val="BBD4D8"/>
                </a:solidFill>
                <a:latin typeface="Calibri" pitchFamily="34" charset="0"/>
                <a:ea typeface="Calibri" pitchFamily="34" charset="-122"/>
                <a:cs typeface="Calibri" pitchFamily="34" charset="-120"/>
              </a:rPr>
              <a:t>of the contacted list</a:t>
            </a:r>
            <a:endParaRPr lang="en-US" sz="1050" dirty="0"/>
          </a:p>
          <a:p>
            <a:pPr marL="0" indent="0">
              <a:buNone/>
            </a:pPr>
            <a:r>
              <a:rPr lang="en-US" sz="1050" dirty="0">
                <a:solidFill>
                  <a:srgbClr val="BBD4D8"/>
                </a:solidFill>
                <a:latin typeface="Calibri" pitchFamily="34" charset="0"/>
                <a:ea typeface="Calibri" pitchFamily="34" charset="-122"/>
                <a:cs typeface="Calibri" pitchFamily="34" charset="-120"/>
              </a:rPr>
              <a:t>really does churn</a:t>
            </a:r>
            <a:endParaRPr lang="en-US" sz="1050" dirty="0"/>
          </a:p>
        </p:txBody>
      </p:sp>
      <p:sp>
        <p:nvSpPr>
          <p:cNvPr id="8" name="Text 6"/>
          <p:cNvSpPr/>
          <p:nvPr/>
        </p:nvSpPr>
        <p:spPr>
          <a:xfrm>
            <a:off x="3383280" y="2468880"/>
            <a:ext cx="2194560" cy="822960"/>
          </a:xfrm>
          <a:prstGeom prst="rect">
            <a:avLst/>
          </a:prstGeom>
          <a:noFill/>
          <a:ln/>
        </p:spPr>
        <p:txBody>
          <a:bodyPr wrap="square" lIns="0" tIns="0" rIns="0" bIns="0" rtlCol="0" anchor="ctr"/>
          <a:lstStyle/>
          <a:p>
            <a:pPr marL="0" indent="0">
              <a:buNone/>
            </a:pPr>
            <a:r>
              <a:rPr lang="en-US" sz="4400" b="1" dirty="0">
                <a:solidFill>
                  <a:srgbClr val="7E9BA1"/>
                </a:solidFill>
                <a:latin typeface="Cambria" pitchFamily="34" charset="0"/>
                <a:ea typeface="Cambria" pitchFamily="34" charset="-122"/>
                <a:cs typeface="Cambria" pitchFamily="34" charset="-120"/>
              </a:rPr>
              <a:t>57%</a:t>
            </a:r>
            <a:endParaRPr lang="en-US" sz="4400" dirty="0"/>
          </a:p>
        </p:txBody>
      </p:sp>
      <p:sp>
        <p:nvSpPr>
          <p:cNvPr id="9" name="Text 7"/>
          <p:cNvSpPr/>
          <p:nvPr/>
        </p:nvSpPr>
        <p:spPr>
          <a:xfrm>
            <a:off x="3383280" y="3291840"/>
            <a:ext cx="2194560" cy="548640"/>
          </a:xfrm>
          <a:prstGeom prst="rect">
            <a:avLst/>
          </a:prstGeom>
          <a:noFill/>
          <a:ln/>
        </p:spPr>
        <p:txBody>
          <a:bodyPr wrap="square" lIns="0" tIns="0" rIns="0" bIns="0" rtlCol="0" anchor="ctr"/>
          <a:lstStyle/>
          <a:p>
            <a:pPr marL="0" indent="0">
              <a:buNone/>
            </a:pPr>
            <a:r>
              <a:rPr lang="en-US" sz="1050" dirty="0">
                <a:solidFill>
                  <a:srgbClr val="8FB3B8"/>
                </a:solidFill>
                <a:latin typeface="Calibri" pitchFamily="34" charset="0"/>
                <a:ea typeface="Calibri" pitchFamily="34" charset="-122"/>
                <a:cs typeface="Calibri" pitchFamily="34" charset="-120"/>
              </a:rPr>
              <a:t>if you contacted</a:t>
            </a:r>
            <a:endParaRPr lang="en-US" sz="1050" dirty="0"/>
          </a:p>
          <a:p>
            <a:pPr marL="0" indent="0">
              <a:buNone/>
            </a:pPr>
            <a:r>
              <a:rPr lang="en-US" sz="1050" dirty="0">
                <a:solidFill>
                  <a:srgbClr val="8FB3B8"/>
                </a:solidFill>
                <a:latin typeface="Calibri" pitchFamily="34" charset="0"/>
                <a:ea typeface="Calibri" pitchFamily="34" charset="-122"/>
                <a:cs typeface="Calibri" pitchFamily="34" charset="-120"/>
              </a:rPr>
              <a:t>people at random</a:t>
            </a:r>
            <a:endParaRPr lang="en-US" sz="1050" dirty="0"/>
          </a:p>
        </p:txBody>
      </p:sp>
      <p:sp>
        <p:nvSpPr>
          <p:cNvPr id="10" name="Text 8"/>
          <p:cNvSpPr/>
          <p:nvPr/>
        </p:nvSpPr>
        <p:spPr>
          <a:xfrm>
            <a:off x="914400" y="4069080"/>
            <a:ext cx="4754880" cy="1371600"/>
          </a:xfrm>
          <a:prstGeom prst="rect">
            <a:avLst/>
          </a:prstGeom>
          <a:noFill/>
          <a:ln/>
        </p:spPr>
        <p:txBody>
          <a:bodyPr wrap="square" lIns="0" tIns="0" rIns="0" bIns="0" rtlCol="0" anchor="ctr"/>
          <a:lstStyle/>
          <a:p>
            <a:pPr marL="0" indent="0">
              <a:buNone/>
            </a:pPr>
            <a:r>
              <a:rPr lang="en-US" sz="1200" dirty="0">
                <a:solidFill>
                  <a:srgbClr val="D6E6E8"/>
                </a:solidFill>
                <a:latin typeface="Calibri" pitchFamily="34" charset="0"/>
                <a:ea typeface="Calibri" pitchFamily="34" charset="-122"/>
                <a:cs typeface="Calibri" pitchFamily="34" charset="-120"/>
              </a:rPr>
              <a:t>Same retention budget, nearly double the hit rate. Capture rate is capped by the budget itself with fewer contacts than churners, precision is the metric that matters, and the model reaches 98% of what is achievable at that spend.</a:t>
            </a:r>
            <a:endParaRPr lang="en-US" sz="1200" dirty="0"/>
          </a:p>
        </p:txBody>
      </p:sp>
      <p:sp>
        <p:nvSpPr>
          <p:cNvPr id="11" name="Shape 9"/>
          <p:cNvSpPr/>
          <p:nvPr/>
        </p:nvSpPr>
        <p:spPr>
          <a:xfrm>
            <a:off x="6263640" y="1783080"/>
            <a:ext cx="5257800" cy="3931920"/>
          </a:xfrm>
          <a:prstGeom prst="roundRect">
            <a:avLst>
              <a:gd name="adj" fmla="val 1395"/>
            </a:avLst>
          </a:prstGeom>
          <a:solidFill>
            <a:srgbClr val="17414A"/>
          </a:solidFill>
          <a:ln w="12700">
            <a:solidFill>
              <a:srgbClr val="17414A"/>
            </a:solidFill>
            <a:prstDash val="solid"/>
          </a:ln>
        </p:spPr>
        <p:txBody>
          <a:bodyPr/>
          <a:lstStyle/>
          <a:p>
            <a:endParaRPr lang="en-US"/>
          </a:p>
        </p:txBody>
      </p:sp>
      <p:sp>
        <p:nvSpPr>
          <p:cNvPr id="12" name="Text 10"/>
          <p:cNvSpPr/>
          <p:nvPr/>
        </p:nvSpPr>
        <p:spPr>
          <a:xfrm>
            <a:off x="6537960" y="1965960"/>
            <a:ext cx="4663440" cy="365760"/>
          </a:xfrm>
          <a:prstGeom prst="rect">
            <a:avLst/>
          </a:prstGeom>
          <a:noFill/>
          <a:ln/>
        </p:spPr>
        <p:txBody>
          <a:bodyPr wrap="square" lIns="0" tIns="0" rIns="0" bIns="0" rtlCol="0" anchor="ctr"/>
          <a:lstStyle/>
          <a:p>
            <a:pPr marL="0" indent="0">
              <a:buNone/>
            </a:pPr>
            <a:r>
              <a:rPr lang="en-US" sz="1450" b="1" dirty="0">
                <a:solidFill>
                  <a:srgbClr val="02C39A"/>
                </a:solidFill>
                <a:latin typeface="Calibri" pitchFamily="34" charset="0"/>
                <a:ea typeface="Calibri" pitchFamily="34" charset="-122"/>
                <a:cs typeface="Calibri" pitchFamily="34" charset="-120"/>
              </a:rPr>
              <a:t>The output file</a:t>
            </a:r>
            <a:endParaRPr lang="en-US" sz="1450" dirty="0"/>
          </a:p>
        </p:txBody>
      </p:sp>
      <p:sp>
        <p:nvSpPr>
          <p:cNvPr id="13" name="Text 11"/>
          <p:cNvSpPr/>
          <p:nvPr/>
        </p:nvSpPr>
        <p:spPr>
          <a:xfrm>
            <a:off x="6537960" y="2404872"/>
            <a:ext cx="4663440" cy="320040"/>
          </a:xfrm>
          <a:prstGeom prst="rect">
            <a:avLst/>
          </a:prstGeom>
          <a:noFill/>
          <a:ln/>
        </p:spPr>
        <p:txBody>
          <a:bodyPr wrap="square" lIns="0" tIns="0" rIns="0" bIns="0" rtlCol="0" anchor="ctr"/>
          <a:lstStyle/>
          <a:p>
            <a:pPr marL="0" indent="0">
              <a:buNone/>
            </a:pPr>
            <a:r>
              <a:rPr lang="en-US" sz="1250" b="1" dirty="0">
                <a:solidFill>
                  <a:srgbClr val="D9A404"/>
                </a:solidFill>
                <a:latin typeface="Courier New" pitchFamily="34" charset="0"/>
                <a:ea typeface="Courier New" pitchFamily="34" charset="-122"/>
                <a:cs typeface="Courier New" pitchFamily="34" charset="-120"/>
              </a:rPr>
              <a:t>churn_risk_scores.csv</a:t>
            </a:r>
            <a:endParaRPr lang="en-US" sz="1250" dirty="0"/>
          </a:p>
        </p:txBody>
      </p:sp>
      <p:sp>
        <p:nvSpPr>
          <p:cNvPr id="14" name="Text 12"/>
          <p:cNvSpPr/>
          <p:nvPr/>
        </p:nvSpPr>
        <p:spPr>
          <a:xfrm>
            <a:off x="6720840" y="2880360"/>
            <a:ext cx="4480560" cy="320040"/>
          </a:xfrm>
          <a:prstGeom prst="rect">
            <a:avLst/>
          </a:prstGeom>
          <a:noFill/>
          <a:ln/>
        </p:spPr>
        <p:txBody>
          <a:bodyPr wrap="square" lIns="0" tIns="0" rIns="0" bIns="0" rtlCol="0" anchor="ctr"/>
          <a:lstStyle/>
          <a:p>
            <a:pPr marL="342900" indent="-342900">
              <a:buSzPct val="100000"/>
              <a:buChar char="•"/>
            </a:pPr>
            <a:r>
              <a:rPr lang="en-US" sz="1050" dirty="0">
                <a:solidFill>
                  <a:srgbClr val="D6E6E8"/>
                </a:solidFill>
                <a:latin typeface="Calibri" pitchFamily="34" charset="0"/>
                <a:ea typeface="Calibri" pitchFamily="34" charset="-122"/>
                <a:cs typeface="Calibri" pitchFamily="34" charset="-120"/>
              </a:rPr>
              <a:t>churn_probability — model score per customer</a:t>
            </a:r>
            <a:endParaRPr lang="en-US" sz="1050" dirty="0"/>
          </a:p>
        </p:txBody>
      </p:sp>
      <p:sp>
        <p:nvSpPr>
          <p:cNvPr id="15" name="Text 13"/>
          <p:cNvSpPr/>
          <p:nvPr/>
        </p:nvSpPr>
        <p:spPr>
          <a:xfrm>
            <a:off x="6720840" y="3264408"/>
            <a:ext cx="4480560" cy="320040"/>
          </a:xfrm>
          <a:prstGeom prst="rect">
            <a:avLst/>
          </a:prstGeom>
          <a:noFill/>
          <a:ln/>
        </p:spPr>
        <p:txBody>
          <a:bodyPr wrap="square" lIns="0" tIns="0" rIns="0" bIns="0" rtlCol="0" anchor="ctr"/>
          <a:lstStyle/>
          <a:p>
            <a:pPr marL="342900" indent="-342900">
              <a:buSzPct val="100000"/>
              <a:buChar char="•"/>
            </a:pPr>
            <a:r>
              <a:rPr lang="en-US" sz="1050" dirty="0">
                <a:solidFill>
                  <a:srgbClr val="D6E6E8"/>
                </a:solidFill>
                <a:latin typeface="Calibri" pitchFamily="34" charset="0"/>
                <a:ea typeface="Calibri" pitchFamily="34" charset="-122"/>
                <a:cs typeface="Calibri" pitchFamily="34" charset="-120"/>
              </a:rPr>
              <a:t>risk_decile — 1 to 10, for operational triage</a:t>
            </a:r>
            <a:endParaRPr lang="en-US" sz="1050" dirty="0"/>
          </a:p>
        </p:txBody>
      </p:sp>
      <p:sp>
        <p:nvSpPr>
          <p:cNvPr id="16" name="Text 14"/>
          <p:cNvSpPr/>
          <p:nvPr/>
        </p:nvSpPr>
        <p:spPr>
          <a:xfrm>
            <a:off x="6720840" y="3648456"/>
            <a:ext cx="4480560" cy="320040"/>
          </a:xfrm>
          <a:prstGeom prst="rect">
            <a:avLst/>
          </a:prstGeom>
          <a:noFill/>
          <a:ln/>
        </p:spPr>
        <p:txBody>
          <a:bodyPr wrap="square" lIns="0" tIns="0" rIns="0" bIns="0" rtlCol="0" anchor="ctr"/>
          <a:lstStyle/>
          <a:p>
            <a:pPr marL="342900" indent="-342900">
              <a:buSzPct val="100000"/>
              <a:buChar char="•"/>
            </a:pPr>
            <a:r>
              <a:rPr lang="en-US" sz="1050" dirty="0">
                <a:solidFill>
                  <a:srgbClr val="D6E6E8"/>
                </a:solidFill>
                <a:latin typeface="Calibri" pitchFamily="34" charset="0"/>
                <a:ea typeface="Calibri" pitchFamily="34" charset="-122"/>
                <a:cs typeface="Calibri" pitchFamily="34" charset="-120"/>
              </a:rPr>
              <a:t>expected_revenue_at_risk — probability × value</a:t>
            </a:r>
            <a:endParaRPr lang="en-US" sz="1050" dirty="0"/>
          </a:p>
        </p:txBody>
      </p:sp>
      <p:sp>
        <p:nvSpPr>
          <p:cNvPr id="17" name="Text 15"/>
          <p:cNvSpPr/>
          <p:nvPr/>
        </p:nvSpPr>
        <p:spPr>
          <a:xfrm>
            <a:off x="6720840" y="4032504"/>
            <a:ext cx="4480560" cy="320040"/>
          </a:xfrm>
          <a:prstGeom prst="rect">
            <a:avLst/>
          </a:prstGeom>
          <a:noFill/>
          <a:ln/>
        </p:spPr>
        <p:txBody>
          <a:bodyPr wrap="square" lIns="0" tIns="0" rIns="0" bIns="0" rtlCol="0" anchor="ctr"/>
          <a:lstStyle/>
          <a:p>
            <a:pPr marL="342900" indent="-342900">
              <a:buSzPct val="100000"/>
              <a:buChar char="•"/>
            </a:pPr>
            <a:r>
              <a:rPr lang="en-US" sz="1050" dirty="0">
                <a:solidFill>
                  <a:srgbClr val="D6E6E8"/>
                </a:solidFill>
                <a:latin typeface="Calibri" pitchFamily="34" charset="0"/>
                <a:ea typeface="Calibri" pitchFamily="34" charset="-122"/>
                <a:cs typeface="Calibri" pitchFamily="34" charset="-120"/>
              </a:rPr>
              <a:t>acquisition_channel, loyalty_tier — context</a:t>
            </a:r>
            <a:endParaRPr lang="en-US" sz="1050" dirty="0"/>
          </a:p>
        </p:txBody>
      </p:sp>
      <p:sp>
        <p:nvSpPr>
          <p:cNvPr id="18" name="Text 16"/>
          <p:cNvSpPr/>
          <p:nvPr/>
        </p:nvSpPr>
        <p:spPr>
          <a:xfrm>
            <a:off x="6537960" y="4617720"/>
            <a:ext cx="4663440" cy="822960"/>
          </a:xfrm>
          <a:prstGeom prst="rect">
            <a:avLst/>
          </a:prstGeom>
          <a:noFill/>
          <a:ln/>
        </p:spPr>
        <p:txBody>
          <a:bodyPr wrap="square" lIns="0" tIns="0" rIns="0" bIns="0" rtlCol="0" anchor="ctr"/>
          <a:lstStyle/>
          <a:p>
            <a:pPr marL="0" indent="0">
              <a:buNone/>
            </a:pPr>
            <a:r>
              <a:rPr lang="en-US" sz="1050" i="1" dirty="0">
                <a:solidFill>
                  <a:srgbClr val="02C39A"/>
                </a:solidFill>
                <a:latin typeface="Calibri" pitchFamily="34" charset="0"/>
                <a:ea typeface="Calibri" pitchFamily="34" charset="-122"/>
                <a:cs typeface="Calibri" pitchFamily="34" charset="-120"/>
              </a:rPr>
              <a:t>Ranked by expected revenue at risk, not raw probability. A 90%-likely churner who spent GHS 50 matters less than a 60%-likely one who spent GHS 5,000.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Production architecture</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Why streaming, and why these three tools</a:t>
            </a:r>
            <a:endParaRPr lang="en-US" sz="1350" dirty="0"/>
          </a:p>
        </p:txBody>
      </p:sp>
      <p:sp>
        <p:nvSpPr>
          <p:cNvPr id="4" name="Shape 2"/>
          <p:cNvSpPr/>
          <p:nvPr/>
        </p:nvSpPr>
        <p:spPr>
          <a:xfrm>
            <a:off x="640080" y="1737360"/>
            <a:ext cx="3429000" cy="3108960"/>
          </a:xfrm>
          <a:prstGeom prst="roundRect">
            <a:avLst>
              <a:gd name="adj" fmla="val 1765"/>
            </a:avLst>
          </a:prstGeom>
          <a:solidFill>
            <a:srgbClr val="F1F7F7"/>
          </a:solidFill>
          <a:ln w="12700">
            <a:solidFill>
              <a:srgbClr val="F1F7F7"/>
            </a:solidFill>
            <a:prstDash val="solid"/>
          </a:ln>
        </p:spPr>
        <p:txBody>
          <a:bodyPr/>
          <a:lstStyle/>
          <a:p>
            <a:endParaRPr lang="en-US"/>
          </a:p>
        </p:txBody>
      </p:sp>
      <p:sp>
        <p:nvSpPr>
          <p:cNvPr id="5" name="Shape 3"/>
          <p:cNvSpPr/>
          <p:nvPr/>
        </p:nvSpPr>
        <p:spPr>
          <a:xfrm>
            <a:off x="868680" y="1920240"/>
            <a:ext cx="1600200" cy="384048"/>
          </a:xfrm>
          <a:prstGeom prst="roundRect">
            <a:avLst>
              <a:gd name="adj" fmla="val 11905"/>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868680" y="1920240"/>
            <a:ext cx="16002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Kafka</a:t>
            </a:r>
            <a:endParaRPr lang="en-US" sz="1050" dirty="0"/>
          </a:p>
        </p:txBody>
      </p:sp>
      <p:sp>
        <p:nvSpPr>
          <p:cNvPr id="7" name="Text 5"/>
          <p:cNvSpPr/>
          <p:nvPr/>
        </p:nvSpPr>
        <p:spPr>
          <a:xfrm>
            <a:off x="868680" y="2423160"/>
            <a:ext cx="2971800" cy="27432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Ingestion buffer</a:t>
            </a:r>
            <a:endParaRPr lang="en-US" sz="1150" dirty="0"/>
          </a:p>
        </p:txBody>
      </p:sp>
      <p:sp>
        <p:nvSpPr>
          <p:cNvPr id="8" name="Text 6"/>
          <p:cNvSpPr/>
          <p:nvPr/>
        </p:nvSpPr>
        <p:spPr>
          <a:xfrm>
            <a:off x="868680" y="2743200"/>
            <a:ext cx="2971800" cy="1920240"/>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Decouples producers from consumers, a traffic spike grows the backlog instead of dropping data. Its replayable log would let us reprocess the duplicate-event window after a fix. Partitioning by customer_id is what makes correct sessionisation possible.</a:t>
            </a:r>
            <a:endParaRPr lang="en-US" sz="1200" dirty="0"/>
          </a:p>
        </p:txBody>
      </p:sp>
      <p:sp>
        <p:nvSpPr>
          <p:cNvPr id="9" name="Text 7"/>
          <p:cNvSpPr/>
          <p:nvPr/>
        </p:nvSpPr>
        <p:spPr>
          <a:xfrm>
            <a:off x="4133088" y="3063240"/>
            <a:ext cx="274320" cy="365760"/>
          </a:xfrm>
          <a:prstGeom prst="rect">
            <a:avLst/>
          </a:prstGeom>
          <a:noFill/>
          <a:ln/>
        </p:spPr>
        <p:txBody>
          <a:bodyPr wrap="square" lIns="0" tIns="0" rIns="0" bIns="0" rtlCol="0" anchor="ctr"/>
          <a:lstStyle/>
          <a:p>
            <a:pPr marL="0" indent="0" algn="ctr">
              <a:buNone/>
            </a:pPr>
            <a:r>
              <a:rPr lang="en-US" sz="1500" dirty="0">
                <a:solidFill>
                  <a:srgbClr val="00A896"/>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4343400" y="1737360"/>
            <a:ext cx="3429000" cy="3108960"/>
          </a:xfrm>
          <a:prstGeom prst="roundRect">
            <a:avLst>
              <a:gd name="adj" fmla="val 1765"/>
            </a:avLst>
          </a:prstGeom>
          <a:solidFill>
            <a:srgbClr val="F1F7F7"/>
          </a:solidFill>
          <a:ln w="12700">
            <a:solidFill>
              <a:srgbClr val="F1F7F7"/>
            </a:solidFill>
            <a:prstDash val="solid"/>
          </a:ln>
        </p:spPr>
        <p:txBody>
          <a:bodyPr/>
          <a:lstStyle/>
          <a:p>
            <a:endParaRPr lang="en-US"/>
          </a:p>
        </p:txBody>
      </p:sp>
      <p:sp>
        <p:nvSpPr>
          <p:cNvPr id="11" name="Shape 9"/>
          <p:cNvSpPr/>
          <p:nvPr/>
        </p:nvSpPr>
        <p:spPr>
          <a:xfrm>
            <a:off x="4572000" y="1920240"/>
            <a:ext cx="1600200" cy="384048"/>
          </a:xfrm>
          <a:prstGeom prst="roundRect">
            <a:avLst>
              <a:gd name="adj" fmla="val 11905"/>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4572000" y="1920240"/>
            <a:ext cx="16002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Elasticsearch</a:t>
            </a:r>
            <a:endParaRPr lang="en-US" sz="1050" dirty="0"/>
          </a:p>
        </p:txBody>
      </p:sp>
      <p:sp>
        <p:nvSpPr>
          <p:cNvPr id="13" name="Text 11"/>
          <p:cNvSpPr/>
          <p:nvPr/>
        </p:nvSpPr>
        <p:spPr>
          <a:xfrm>
            <a:off x="4572000" y="2423160"/>
            <a:ext cx="2971800" cy="27432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Serving store</a:t>
            </a:r>
            <a:endParaRPr lang="en-US" sz="1150" dirty="0"/>
          </a:p>
        </p:txBody>
      </p:sp>
      <p:sp>
        <p:nvSpPr>
          <p:cNvPr id="14" name="Text 12"/>
          <p:cNvSpPr/>
          <p:nvPr/>
        </p:nvSpPr>
        <p:spPr>
          <a:xfrm>
            <a:off x="4572000" y="2743200"/>
            <a:ext cx="2971800" cy="1920240"/>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The queries are time-filtered aggregations over semi-structured events, exactly its index-and-aggregate model. Near-real-time indexing puts a funnel dashboard seconds behind live traffic, not a day.</a:t>
            </a:r>
            <a:endParaRPr lang="en-US" sz="1200" dirty="0"/>
          </a:p>
        </p:txBody>
      </p:sp>
      <p:sp>
        <p:nvSpPr>
          <p:cNvPr id="15" name="Text 13"/>
          <p:cNvSpPr/>
          <p:nvPr/>
        </p:nvSpPr>
        <p:spPr>
          <a:xfrm>
            <a:off x="7836408" y="3063240"/>
            <a:ext cx="274320" cy="365760"/>
          </a:xfrm>
          <a:prstGeom prst="rect">
            <a:avLst/>
          </a:prstGeom>
          <a:noFill/>
          <a:ln/>
        </p:spPr>
        <p:txBody>
          <a:bodyPr wrap="square" lIns="0" tIns="0" rIns="0" bIns="0" rtlCol="0" anchor="ctr"/>
          <a:lstStyle/>
          <a:p>
            <a:pPr marL="0" indent="0" algn="ctr">
              <a:buNone/>
            </a:pPr>
            <a:r>
              <a:rPr lang="en-US" sz="1500" dirty="0">
                <a:solidFill>
                  <a:srgbClr val="00A896"/>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046720" y="1737360"/>
            <a:ext cx="3429000" cy="3108960"/>
          </a:xfrm>
          <a:prstGeom prst="roundRect">
            <a:avLst>
              <a:gd name="adj" fmla="val 1765"/>
            </a:avLst>
          </a:prstGeom>
          <a:solidFill>
            <a:srgbClr val="F1F7F7"/>
          </a:solidFill>
          <a:ln w="12700">
            <a:solidFill>
              <a:srgbClr val="F1F7F7"/>
            </a:solidFill>
            <a:prstDash val="solid"/>
          </a:ln>
        </p:spPr>
        <p:txBody>
          <a:bodyPr/>
          <a:lstStyle/>
          <a:p>
            <a:endParaRPr lang="en-US"/>
          </a:p>
        </p:txBody>
      </p:sp>
      <p:sp>
        <p:nvSpPr>
          <p:cNvPr id="17" name="Shape 15"/>
          <p:cNvSpPr/>
          <p:nvPr/>
        </p:nvSpPr>
        <p:spPr>
          <a:xfrm>
            <a:off x="8275320" y="1920240"/>
            <a:ext cx="1600200" cy="384048"/>
          </a:xfrm>
          <a:prstGeom prst="roundRect">
            <a:avLst>
              <a:gd name="adj" fmla="val 11905"/>
            </a:avLst>
          </a:prstGeom>
          <a:solidFill>
            <a:srgbClr val="02C39A"/>
          </a:solidFill>
          <a:ln w="12700">
            <a:solidFill>
              <a:srgbClr val="02C39A"/>
            </a:solidFill>
            <a:prstDash val="solid"/>
          </a:ln>
        </p:spPr>
        <p:txBody>
          <a:bodyPr/>
          <a:lstStyle/>
          <a:p>
            <a:endParaRPr lang="en-US"/>
          </a:p>
        </p:txBody>
      </p:sp>
      <p:sp>
        <p:nvSpPr>
          <p:cNvPr id="18" name="Text 16"/>
          <p:cNvSpPr/>
          <p:nvPr/>
        </p:nvSpPr>
        <p:spPr>
          <a:xfrm>
            <a:off x="8275320" y="1920240"/>
            <a:ext cx="16002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Kibana / Grafana</a:t>
            </a:r>
            <a:endParaRPr lang="en-US" sz="1050" dirty="0"/>
          </a:p>
        </p:txBody>
      </p:sp>
      <p:sp>
        <p:nvSpPr>
          <p:cNvPr id="19" name="Text 17"/>
          <p:cNvSpPr/>
          <p:nvPr/>
        </p:nvSpPr>
        <p:spPr>
          <a:xfrm>
            <a:off x="8275320" y="2423160"/>
            <a:ext cx="2971800" cy="27432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Dashboards + alerting</a:t>
            </a:r>
            <a:endParaRPr lang="en-US" sz="1150" dirty="0"/>
          </a:p>
        </p:txBody>
      </p:sp>
      <p:sp>
        <p:nvSpPr>
          <p:cNvPr id="20" name="Text 18"/>
          <p:cNvSpPr/>
          <p:nvPr/>
        </p:nvSpPr>
        <p:spPr>
          <a:xfrm>
            <a:off x="8275320" y="2743200"/>
            <a:ext cx="2971800" cy="1920240"/>
          </a:xfrm>
          <a:prstGeom prst="rect">
            <a:avLst/>
          </a:prstGeom>
          <a:noFill/>
          <a:ln/>
        </p:spPr>
        <p:txBody>
          <a:bodyPr wrap="square" lIns="0" tIns="0" rIns="0" bIns="0" rtlCol="0" anchor="ctr"/>
          <a:lstStyle/>
          <a:p>
            <a:pPr marL="0" indent="0">
              <a:buNone/>
            </a:pPr>
            <a:r>
              <a:rPr lang="en-US" sz="1200" dirty="0">
                <a:solidFill>
                  <a:srgbClr val="4A6670"/>
                </a:solidFill>
                <a:latin typeface="Calibri" pitchFamily="34" charset="0"/>
                <a:ea typeface="Calibri" pitchFamily="34" charset="-122"/>
                <a:cs typeface="Calibri" pitchFamily="34" charset="-120"/>
              </a:rPr>
              <a:t>Kibana serves the operational dashboards. Grafana adds threshold alerting: if hourly conversion drops below its rolling baseline, the growth team is paged rather than finding out next week.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The live dashboard</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Kibana over 40,000 events indexed by the streaming consumer</a:t>
            </a:r>
            <a:endParaRPr lang="en-US" sz="1350" dirty="0"/>
          </a:p>
        </p:txBody>
      </p:sp>
      <p:pic>
        <p:nvPicPr>
          <p:cNvPr id="4" name="Image 0" descr="kb_volume.png"/>
          <p:cNvPicPr>
            <a:picLocks noChangeAspect="1"/>
          </p:cNvPicPr>
          <p:nvPr/>
        </p:nvPicPr>
        <p:blipFill>
          <a:blip r:embed="rId3"/>
          <a:stretch>
            <a:fillRect/>
          </a:stretch>
        </p:blipFill>
        <p:spPr>
          <a:xfrm>
            <a:off x="982171" y="1362269"/>
            <a:ext cx="4303621" cy="2094163"/>
          </a:xfrm>
          <a:prstGeom prst="rect">
            <a:avLst/>
          </a:prstGeom>
        </p:spPr>
      </p:pic>
      <p:sp>
        <p:nvSpPr>
          <p:cNvPr id="5" name="Text 2"/>
          <p:cNvSpPr/>
          <p:nvPr/>
        </p:nvSpPr>
        <p:spPr>
          <a:xfrm>
            <a:off x="505081" y="3570539"/>
            <a:ext cx="52578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Hourly event volume</a:t>
            </a:r>
            <a:endParaRPr lang="en-US" sz="1000" dirty="0"/>
          </a:p>
        </p:txBody>
      </p:sp>
      <p:pic>
        <p:nvPicPr>
          <p:cNvPr id="6" name="Image 1" descr="kb_funnel.png"/>
          <p:cNvPicPr>
            <a:picLocks noChangeAspect="1"/>
          </p:cNvPicPr>
          <p:nvPr/>
        </p:nvPicPr>
        <p:blipFill>
          <a:blip r:embed="rId4"/>
          <a:stretch>
            <a:fillRect/>
          </a:stretch>
        </p:blipFill>
        <p:spPr>
          <a:xfrm>
            <a:off x="6056552" y="1362269"/>
            <a:ext cx="4487040" cy="2183415"/>
          </a:xfrm>
          <a:prstGeom prst="rect">
            <a:avLst/>
          </a:prstGeom>
        </p:spPr>
      </p:pic>
      <p:sp>
        <p:nvSpPr>
          <p:cNvPr id="7" name="Text 3"/>
          <p:cNvSpPr/>
          <p:nvPr/>
        </p:nvSpPr>
        <p:spPr>
          <a:xfrm>
            <a:off x="5671172" y="3667130"/>
            <a:ext cx="52578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Funnel by stage</a:t>
            </a:r>
            <a:endParaRPr lang="en-US" sz="1000" dirty="0"/>
          </a:p>
        </p:txBody>
      </p:sp>
      <p:pic>
        <p:nvPicPr>
          <p:cNvPr id="8" name="Image 2" descr="kb_device.png"/>
          <p:cNvPicPr>
            <a:picLocks noChangeAspect="1"/>
          </p:cNvPicPr>
          <p:nvPr/>
        </p:nvPicPr>
        <p:blipFill>
          <a:blip r:embed="rId5"/>
          <a:stretch>
            <a:fillRect/>
          </a:stretch>
        </p:blipFill>
        <p:spPr>
          <a:xfrm>
            <a:off x="982172" y="3940678"/>
            <a:ext cx="4303620" cy="1948058"/>
          </a:xfrm>
          <a:prstGeom prst="rect">
            <a:avLst/>
          </a:prstGeom>
        </p:spPr>
      </p:pic>
      <p:sp>
        <p:nvSpPr>
          <p:cNvPr id="9" name="Text 4"/>
          <p:cNvSpPr/>
          <p:nvPr/>
        </p:nvSpPr>
        <p:spPr>
          <a:xfrm>
            <a:off x="406815" y="6016752"/>
            <a:ext cx="52578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Device mix — Android 54.8%</a:t>
            </a:r>
            <a:endParaRPr lang="en-US" sz="1000" dirty="0"/>
          </a:p>
        </p:txBody>
      </p:sp>
      <p:pic>
        <p:nvPicPr>
          <p:cNvPr id="10" name="Image 3" descr="kb_traffic.png"/>
          <p:cNvPicPr>
            <a:picLocks noChangeAspect="1"/>
          </p:cNvPicPr>
          <p:nvPr/>
        </p:nvPicPr>
        <p:blipFill>
          <a:blip r:embed="rId6"/>
          <a:stretch>
            <a:fillRect/>
          </a:stretch>
        </p:blipFill>
        <p:spPr>
          <a:xfrm>
            <a:off x="6006843" y="3931920"/>
            <a:ext cx="4536749" cy="1938528"/>
          </a:xfrm>
          <a:prstGeom prst="rect">
            <a:avLst/>
          </a:prstGeom>
        </p:spPr>
      </p:pic>
      <p:sp>
        <p:nvSpPr>
          <p:cNvPr id="11" name="Text 5"/>
          <p:cNvSpPr/>
          <p:nvPr/>
        </p:nvSpPr>
        <p:spPr>
          <a:xfrm>
            <a:off x="5769118" y="6016752"/>
            <a:ext cx="52578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Traffic source by device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Six recommendations</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Each one backed by a specific finding, not a general principle</a:t>
            </a:r>
            <a:endParaRPr lang="en-US" sz="1350" dirty="0"/>
          </a:p>
        </p:txBody>
      </p:sp>
      <p:sp>
        <p:nvSpPr>
          <p:cNvPr id="4" name="Shape 2"/>
          <p:cNvSpPr/>
          <p:nvPr/>
        </p:nvSpPr>
        <p:spPr>
          <a:xfrm>
            <a:off x="640080" y="1737360"/>
            <a:ext cx="5257800" cy="1298448"/>
          </a:xfrm>
          <a:prstGeom prst="roundRect">
            <a:avLst>
              <a:gd name="adj" fmla="val 4225"/>
            </a:avLst>
          </a:prstGeom>
          <a:solidFill>
            <a:srgbClr val="E8F2F2"/>
          </a:solidFill>
          <a:ln w="12700">
            <a:solidFill>
              <a:srgbClr val="E8F2F2"/>
            </a:solidFill>
            <a:prstDash val="solid"/>
          </a:ln>
        </p:spPr>
        <p:txBody>
          <a:bodyPr/>
          <a:lstStyle/>
          <a:p>
            <a:endParaRPr lang="en-US"/>
          </a:p>
        </p:txBody>
      </p:sp>
      <p:sp>
        <p:nvSpPr>
          <p:cNvPr id="5" name="Shape 3"/>
          <p:cNvSpPr/>
          <p:nvPr/>
        </p:nvSpPr>
        <p:spPr>
          <a:xfrm>
            <a:off x="868680" y="1965960"/>
            <a:ext cx="402336" cy="402336"/>
          </a:xfrm>
          <a:prstGeom prst="ellipse">
            <a:avLst/>
          </a:prstGeom>
          <a:solidFill>
            <a:srgbClr val="028090"/>
          </a:solidFill>
          <a:ln/>
        </p:spPr>
        <p:txBody>
          <a:bodyPr/>
          <a:lstStyle/>
          <a:p>
            <a:endParaRPr lang="en-US"/>
          </a:p>
        </p:txBody>
      </p:sp>
      <p:sp>
        <p:nvSpPr>
          <p:cNvPr id="6" name="Text 4"/>
          <p:cNvSpPr/>
          <p:nvPr/>
        </p:nvSpPr>
        <p:spPr>
          <a:xfrm>
            <a:off x="868680" y="19659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883664"/>
            <a:ext cx="425196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Reallocate acquisition spend</a:t>
            </a:r>
            <a:endParaRPr lang="en-US" sz="1200" dirty="0"/>
          </a:p>
        </p:txBody>
      </p:sp>
      <p:sp>
        <p:nvSpPr>
          <p:cNvPr id="8" name="Text 6"/>
          <p:cNvSpPr/>
          <p:nvPr/>
        </p:nvSpPr>
        <p:spPr>
          <a:xfrm>
            <a:off x="1417320" y="2185416"/>
            <a:ext cx="4251960" cy="749808"/>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Paid social churns at 67%, referral at 46%. Judge paid channels on 90-day retention, not first-order volume.</a:t>
            </a:r>
            <a:endParaRPr lang="en-US" sz="950" dirty="0"/>
          </a:p>
        </p:txBody>
      </p:sp>
      <p:sp>
        <p:nvSpPr>
          <p:cNvPr id="9" name="Shape 7"/>
          <p:cNvSpPr/>
          <p:nvPr/>
        </p:nvSpPr>
        <p:spPr>
          <a:xfrm>
            <a:off x="6172200" y="1737360"/>
            <a:ext cx="5257800" cy="1298448"/>
          </a:xfrm>
          <a:prstGeom prst="roundRect">
            <a:avLst>
              <a:gd name="adj" fmla="val 4225"/>
            </a:avLst>
          </a:prstGeom>
          <a:solidFill>
            <a:srgbClr val="F1F7F7"/>
          </a:solidFill>
          <a:ln w="12700">
            <a:solidFill>
              <a:srgbClr val="F1F7F7"/>
            </a:solidFill>
            <a:prstDash val="solid"/>
          </a:ln>
        </p:spPr>
        <p:txBody>
          <a:bodyPr/>
          <a:lstStyle/>
          <a:p>
            <a:endParaRPr lang="en-US"/>
          </a:p>
        </p:txBody>
      </p:sp>
      <p:sp>
        <p:nvSpPr>
          <p:cNvPr id="10" name="Shape 8"/>
          <p:cNvSpPr/>
          <p:nvPr/>
        </p:nvSpPr>
        <p:spPr>
          <a:xfrm>
            <a:off x="6400800" y="1965960"/>
            <a:ext cx="402336" cy="402336"/>
          </a:xfrm>
          <a:prstGeom prst="ellipse">
            <a:avLst/>
          </a:prstGeom>
          <a:solidFill>
            <a:srgbClr val="028090"/>
          </a:solidFill>
          <a:ln/>
        </p:spPr>
        <p:txBody>
          <a:bodyPr/>
          <a:lstStyle/>
          <a:p>
            <a:endParaRPr lang="en-US"/>
          </a:p>
        </p:txBody>
      </p:sp>
      <p:sp>
        <p:nvSpPr>
          <p:cNvPr id="11" name="Text 9"/>
          <p:cNvSpPr/>
          <p:nvPr/>
        </p:nvSpPr>
        <p:spPr>
          <a:xfrm>
            <a:off x="6400800" y="19659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949440" y="1883664"/>
            <a:ext cx="425196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Treat delivery as retention</a:t>
            </a:r>
            <a:endParaRPr lang="en-US" sz="1200" dirty="0"/>
          </a:p>
        </p:txBody>
      </p:sp>
      <p:sp>
        <p:nvSpPr>
          <p:cNvPr id="13" name="Text 11"/>
          <p:cNvSpPr/>
          <p:nvPr/>
        </p:nvSpPr>
        <p:spPr>
          <a:xfrm>
            <a:off x="6949440" y="2185416"/>
            <a:ext cx="4251960" cy="749808"/>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Churn rises with delivery time. A northern pickup point is a retention investment, not just logistics.</a:t>
            </a:r>
            <a:endParaRPr lang="en-US" sz="950" dirty="0"/>
          </a:p>
        </p:txBody>
      </p:sp>
      <p:sp>
        <p:nvSpPr>
          <p:cNvPr id="14" name="Shape 12"/>
          <p:cNvSpPr/>
          <p:nvPr/>
        </p:nvSpPr>
        <p:spPr>
          <a:xfrm>
            <a:off x="640080" y="3200400"/>
            <a:ext cx="5257800" cy="1298448"/>
          </a:xfrm>
          <a:prstGeom prst="roundRect">
            <a:avLst>
              <a:gd name="adj" fmla="val 4225"/>
            </a:avLst>
          </a:prstGeom>
          <a:solidFill>
            <a:srgbClr val="E8F2F2"/>
          </a:solidFill>
          <a:ln w="12700">
            <a:solidFill>
              <a:srgbClr val="E8F2F2"/>
            </a:solidFill>
            <a:prstDash val="solid"/>
          </a:ln>
        </p:spPr>
        <p:txBody>
          <a:bodyPr/>
          <a:lstStyle/>
          <a:p>
            <a:endParaRPr lang="en-US"/>
          </a:p>
        </p:txBody>
      </p:sp>
      <p:sp>
        <p:nvSpPr>
          <p:cNvPr id="15" name="Shape 13"/>
          <p:cNvSpPr/>
          <p:nvPr/>
        </p:nvSpPr>
        <p:spPr>
          <a:xfrm>
            <a:off x="868680" y="3429000"/>
            <a:ext cx="402336" cy="402336"/>
          </a:xfrm>
          <a:prstGeom prst="ellipse">
            <a:avLst/>
          </a:prstGeom>
          <a:solidFill>
            <a:srgbClr val="028090"/>
          </a:solidFill>
          <a:ln/>
        </p:spPr>
        <p:txBody>
          <a:bodyPr/>
          <a:lstStyle/>
          <a:p>
            <a:endParaRPr lang="en-US"/>
          </a:p>
        </p:txBody>
      </p:sp>
      <p:sp>
        <p:nvSpPr>
          <p:cNvPr id="16" name="Text 14"/>
          <p:cNvSpPr/>
          <p:nvPr/>
        </p:nvSpPr>
        <p:spPr>
          <a:xfrm>
            <a:off x="868680" y="34290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346704"/>
            <a:ext cx="425196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Cap discount dependency</a:t>
            </a:r>
            <a:endParaRPr lang="en-US" sz="1200" dirty="0"/>
          </a:p>
        </p:txBody>
      </p:sp>
      <p:sp>
        <p:nvSpPr>
          <p:cNvPr id="18" name="Text 16"/>
          <p:cNvSpPr/>
          <p:nvPr/>
        </p:nvSpPr>
        <p:spPr>
          <a:xfrm>
            <a:off x="1417320" y="3648456"/>
            <a:ext cx="4251960" cy="749808"/>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Heavy promo users churn more. Move them to loyalty benefits and free-delivery thresholds that raise order value instead of eroding margin.</a:t>
            </a:r>
            <a:endParaRPr lang="en-US" sz="950" dirty="0"/>
          </a:p>
        </p:txBody>
      </p:sp>
      <p:sp>
        <p:nvSpPr>
          <p:cNvPr id="19" name="Shape 17"/>
          <p:cNvSpPr/>
          <p:nvPr/>
        </p:nvSpPr>
        <p:spPr>
          <a:xfrm>
            <a:off x="6172200" y="3200400"/>
            <a:ext cx="5257800" cy="1298448"/>
          </a:xfrm>
          <a:prstGeom prst="roundRect">
            <a:avLst>
              <a:gd name="adj" fmla="val 4225"/>
            </a:avLst>
          </a:prstGeom>
          <a:solidFill>
            <a:srgbClr val="F1F7F7"/>
          </a:solidFill>
          <a:ln w="12700">
            <a:solidFill>
              <a:srgbClr val="F1F7F7"/>
            </a:solidFill>
            <a:prstDash val="solid"/>
          </a:ln>
        </p:spPr>
        <p:txBody>
          <a:bodyPr/>
          <a:lstStyle/>
          <a:p>
            <a:endParaRPr lang="en-US"/>
          </a:p>
        </p:txBody>
      </p:sp>
      <p:sp>
        <p:nvSpPr>
          <p:cNvPr id="20" name="Shape 18"/>
          <p:cNvSpPr/>
          <p:nvPr/>
        </p:nvSpPr>
        <p:spPr>
          <a:xfrm>
            <a:off x="6400800" y="3429000"/>
            <a:ext cx="402336" cy="402336"/>
          </a:xfrm>
          <a:prstGeom prst="ellipse">
            <a:avLst/>
          </a:prstGeom>
          <a:solidFill>
            <a:srgbClr val="028090"/>
          </a:solidFill>
          <a:ln/>
        </p:spPr>
        <p:txBody>
          <a:bodyPr/>
          <a:lstStyle/>
          <a:p>
            <a:endParaRPr lang="en-US"/>
          </a:p>
        </p:txBody>
      </p:sp>
      <p:sp>
        <p:nvSpPr>
          <p:cNvPr id="21" name="Text 19"/>
          <p:cNvSpPr/>
          <p:nvPr/>
        </p:nvSpPr>
        <p:spPr>
          <a:xfrm>
            <a:off x="6400800" y="34290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949440" y="3346704"/>
            <a:ext cx="425196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Fix sessionisation, then the funnel</a:t>
            </a:r>
            <a:endParaRPr lang="en-US" sz="1200" dirty="0"/>
          </a:p>
        </p:txBody>
      </p:sp>
      <p:sp>
        <p:nvSpPr>
          <p:cNvPr id="23" name="Text 21"/>
          <p:cNvSpPr/>
          <p:nvPr/>
        </p:nvSpPr>
        <p:spPr>
          <a:xfrm>
            <a:off x="6949440" y="3648456"/>
            <a:ext cx="4251960" cy="749808"/>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Carts and purchases are not stitched into one session — a tracking gap that blocks measurement. Fix it, then run the MoMo one-tap checkout experiment.</a:t>
            </a:r>
            <a:endParaRPr lang="en-US" sz="950" dirty="0"/>
          </a:p>
        </p:txBody>
      </p:sp>
      <p:sp>
        <p:nvSpPr>
          <p:cNvPr id="24" name="Shape 22"/>
          <p:cNvSpPr/>
          <p:nvPr/>
        </p:nvSpPr>
        <p:spPr>
          <a:xfrm>
            <a:off x="640080" y="4663440"/>
            <a:ext cx="5257800" cy="1298448"/>
          </a:xfrm>
          <a:prstGeom prst="roundRect">
            <a:avLst>
              <a:gd name="adj" fmla="val 4225"/>
            </a:avLst>
          </a:prstGeom>
          <a:solidFill>
            <a:srgbClr val="E8F2F2"/>
          </a:solidFill>
          <a:ln w="12700">
            <a:solidFill>
              <a:srgbClr val="E8F2F2"/>
            </a:solidFill>
            <a:prstDash val="solid"/>
          </a:ln>
        </p:spPr>
        <p:txBody>
          <a:bodyPr/>
          <a:lstStyle/>
          <a:p>
            <a:endParaRPr lang="en-US"/>
          </a:p>
        </p:txBody>
      </p:sp>
      <p:sp>
        <p:nvSpPr>
          <p:cNvPr id="25" name="Shape 23"/>
          <p:cNvSpPr/>
          <p:nvPr/>
        </p:nvSpPr>
        <p:spPr>
          <a:xfrm>
            <a:off x="868680" y="4892040"/>
            <a:ext cx="402336" cy="402336"/>
          </a:xfrm>
          <a:prstGeom prst="ellipse">
            <a:avLst/>
          </a:prstGeom>
          <a:solidFill>
            <a:srgbClr val="028090"/>
          </a:solidFill>
          <a:ln/>
        </p:spPr>
        <p:txBody>
          <a:bodyPr/>
          <a:lstStyle/>
          <a:p>
            <a:endParaRPr lang="en-US"/>
          </a:p>
        </p:txBody>
      </p:sp>
      <p:sp>
        <p:nvSpPr>
          <p:cNvPr id="26" name="Text 24"/>
          <p:cNvSpPr/>
          <p:nvPr/>
        </p:nvSpPr>
        <p:spPr>
          <a:xfrm>
            <a:off x="868680" y="48920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17320" y="4809744"/>
            <a:ext cx="4251960" cy="292608"/>
          </a:xfrm>
          <a:prstGeom prst="rect">
            <a:avLst/>
          </a:prstGeom>
          <a:noFill/>
          <a:ln/>
        </p:spPr>
        <p:txBody>
          <a:bodyPr wrap="square" lIns="0" tIns="0" rIns="0" bIns="0" rtlCol="0" anchor="ctr"/>
          <a:lstStyle/>
          <a:p>
            <a:pPr marL="0" indent="0">
              <a:buNone/>
            </a:pPr>
            <a:r>
              <a:rPr lang="en-US" sz="1200" b="1" dirty="0">
                <a:solidFill>
                  <a:srgbClr val="10333A"/>
                </a:solidFill>
                <a:latin typeface="Calibri" pitchFamily="34" charset="0"/>
                <a:ea typeface="Calibri" pitchFamily="34" charset="-122"/>
                <a:cs typeface="Calibri" pitchFamily="34" charset="-120"/>
              </a:rPr>
              <a:t>Operationalise the model</a:t>
            </a:r>
            <a:endParaRPr lang="en-US" sz="1200" dirty="0"/>
          </a:p>
        </p:txBody>
      </p:sp>
      <p:sp>
        <p:nvSpPr>
          <p:cNvPr id="28" name="Text 26"/>
          <p:cNvSpPr/>
          <p:nvPr/>
        </p:nvSpPr>
        <p:spPr>
          <a:xfrm>
            <a:off x="1417320" y="5111496"/>
            <a:ext cx="4251960" cy="749808"/>
          </a:xfrm>
          <a:prstGeom prst="rect">
            <a:avLst/>
          </a:prstGeom>
          <a:noFill/>
          <a:ln/>
        </p:spPr>
        <p:txBody>
          <a:bodyPr wrap="square" lIns="0" tIns="0" rIns="0" bIns="0" rtlCol="0" anchor="ctr"/>
          <a:lstStyle/>
          <a:p>
            <a:pPr marL="0" indent="0">
              <a:buNone/>
            </a:pPr>
            <a:r>
              <a:rPr lang="en-US" sz="950" dirty="0">
                <a:solidFill>
                  <a:srgbClr val="4A6670"/>
                </a:solidFill>
                <a:latin typeface="Calibri" pitchFamily="34" charset="0"/>
                <a:ea typeface="Calibri" pitchFamily="34" charset="-122"/>
                <a:cs typeface="Calibri" pitchFamily="34" charset="-120"/>
              </a:rPr>
              <a:t>Score every active customer nightly and hand retention the top 20%. That list is 98% churners against a 57% base rate.</a:t>
            </a:r>
            <a:endParaRPr lang="en-US" sz="950" dirty="0"/>
          </a:p>
        </p:txBody>
      </p:sp>
      <p:sp>
        <p:nvSpPr>
          <p:cNvPr id="31" name="Text 29"/>
          <p:cNvSpPr/>
          <p:nvPr/>
        </p:nvSpPr>
        <p:spPr>
          <a:xfrm>
            <a:off x="6400800" y="4892040"/>
            <a:ext cx="402336" cy="402336"/>
          </a:xfrm>
          <a:prstGeom prst="rect">
            <a:avLst/>
          </a:prstGeom>
          <a:noFill/>
          <a:ln/>
        </p:spPr>
        <p:txBody>
          <a:bodyPr wrap="square" lIns="0" tIns="0" rIns="0" bIns="0" rtlCol="0" anchor="ctr"/>
          <a:lstStyle/>
          <a:p>
            <a:pPr marL="0" indent="0" algn="ctr">
              <a:buNone/>
            </a:pP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58368"/>
          </a:xfrm>
          <a:prstGeom prst="rect">
            <a:avLst/>
          </a:prstGeom>
          <a:noFill/>
          <a:ln/>
        </p:spPr>
        <p:txBody>
          <a:bodyPr wrap="square" lIns="0" tIns="0" rIns="0" bIns="0" rtlCol="0" anchor="ctr"/>
          <a:lstStyle/>
          <a:p>
            <a:pPr marL="0" indent="0">
              <a:buNone/>
            </a:pPr>
            <a:r>
              <a:rPr lang="en-US" sz="3300" b="1" dirty="0">
                <a:solidFill>
                  <a:srgbClr val="10333A"/>
                </a:solidFill>
                <a:latin typeface="Cambria" pitchFamily="34" charset="0"/>
                <a:ea typeface="Cambria" pitchFamily="34" charset="-122"/>
                <a:cs typeface="Cambria" pitchFamily="34" charset="-120"/>
              </a:rPr>
              <a:t>What I would do differently</a:t>
            </a:r>
            <a:endParaRPr lang="en-US" sz="3300" dirty="0"/>
          </a:p>
        </p:txBody>
      </p:sp>
      <p:sp>
        <p:nvSpPr>
          <p:cNvPr id="3" name="Text 1"/>
          <p:cNvSpPr/>
          <p:nvPr/>
        </p:nvSpPr>
        <p:spPr>
          <a:xfrm>
            <a:off x="640080" y="1097280"/>
            <a:ext cx="10881360" cy="365760"/>
          </a:xfrm>
          <a:prstGeom prst="rect">
            <a:avLst/>
          </a:prstGeom>
          <a:noFill/>
          <a:ln/>
        </p:spPr>
        <p:txBody>
          <a:bodyPr wrap="square" lIns="0" tIns="0" rIns="0" bIns="0"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Limitations stated plainly, and the next steps they imply</a:t>
            </a:r>
            <a:endParaRPr lang="en-US" sz="1350" dirty="0"/>
          </a:p>
        </p:txBody>
      </p:sp>
      <p:sp>
        <p:nvSpPr>
          <p:cNvPr id="4" name="Shape 2"/>
          <p:cNvSpPr/>
          <p:nvPr/>
        </p:nvSpPr>
        <p:spPr>
          <a:xfrm>
            <a:off x="658368" y="1847088"/>
            <a:ext cx="237744" cy="237744"/>
          </a:xfrm>
          <a:prstGeom prst="ellipse">
            <a:avLst/>
          </a:prstGeom>
          <a:solidFill>
            <a:srgbClr val="D9A404"/>
          </a:solidFill>
          <a:ln/>
        </p:spPr>
        <p:txBody>
          <a:bodyPr/>
          <a:lstStyle/>
          <a:p>
            <a:endParaRPr lang="en-US"/>
          </a:p>
        </p:txBody>
      </p:sp>
      <p:sp>
        <p:nvSpPr>
          <p:cNvPr id="5" name="Text 3"/>
          <p:cNvSpPr/>
          <p:nvPr/>
        </p:nvSpPr>
        <p:spPr>
          <a:xfrm>
            <a:off x="1051560" y="1755648"/>
            <a:ext cx="3200400" cy="45720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Synthetic data</a:t>
            </a:r>
            <a:endParaRPr lang="en-US" sz="1150" dirty="0"/>
          </a:p>
        </p:txBody>
      </p:sp>
      <p:sp>
        <p:nvSpPr>
          <p:cNvPr id="6" name="Text 4"/>
          <p:cNvSpPr/>
          <p:nvPr/>
        </p:nvSpPr>
        <p:spPr>
          <a:xfrm>
            <a:off x="4343400" y="1755648"/>
            <a:ext cx="7178040" cy="566928"/>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I generated it, so effect sizes are indicative rather than measured. The pipeline transfers unchanged; the coefficients would need re-estimating on real data.</a:t>
            </a:r>
            <a:endParaRPr lang="en-US" sz="1000" dirty="0"/>
          </a:p>
        </p:txBody>
      </p:sp>
      <p:sp>
        <p:nvSpPr>
          <p:cNvPr id="7" name="Shape 5"/>
          <p:cNvSpPr/>
          <p:nvPr/>
        </p:nvSpPr>
        <p:spPr>
          <a:xfrm>
            <a:off x="658368" y="2569464"/>
            <a:ext cx="237744" cy="237744"/>
          </a:xfrm>
          <a:prstGeom prst="ellipse">
            <a:avLst/>
          </a:prstGeom>
          <a:solidFill>
            <a:srgbClr val="D9A404"/>
          </a:solidFill>
          <a:ln/>
        </p:spPr>
        <p:txBody>
          <a:bodyPr/>
          <a:lstStyle/>
          <a:p>
            <a:endParaRPr lang="en-US"/>
          </a:p>
        </p:txBody>
      </p:sp>
      <p:sp>
        <p:nvSpPr>
          <p:cNvPr id="8" name="Text 6"/>
          <p:cNvSpPr/>
          <p:nvPr/>
        </p:nvSpPr>
        <p:spPr>
          <a:xfrm>
            <a:off x="1051560" y="2478024"/>
            <a:ext cx="3200400" cy="45720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One cutoff date</a:t>
            </a:r>
            <a:endParaRPr lang="en-US" sz="1150" dirty="0"/>
          </a:p>
        </p:txBody>
      </p:sp>
      <p:sp>
        <p:nvSpPr>
          <p:cNvPr id="9" name="Text 7"/>
          <p:cNvSpPr/>
          <p:nvPr/>
        </p:nvSpPr>
        <p:spPr>
          <a:xfrm>
            <a:off x="4343400" y="2478024"/>
            <a:ext cx="7178040" cy="566928"/>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The model is validated at a single point in time. Production should use rolling-origin validation across several cutoffs to confirm stability.</a:t>
            </a:r>
            <a:endParaRPr lang="en-US" sz="1000" dirty="0"/>
          </a:p>
        </p:txBody>
      </p:sp>
      <p:sp>
        <p:nvSpPr>
          <p:cNvPr id="10" name="Shape 8"/>
          <p:cNvSpPr/>
          <p:nvPr/>
        </p:nvSpPr>
        <p:spPr>
          <a:xfrm>
            <a:off x="658368" y="3291840"/>
            <a:ext cx="237744" cy="237744"/>
          </a:xfrm>
          <a:prstGeom prst="ellipse">
            <a:avLst/>
          </a:prstGeom>
          <a:solidFill>
            <a:srgbClr val="D9A404"/>
          </a:solidFill>
          <a:ln/>
        </p:spPr>
        <p:txBody>
          <a:bodyPr/>
          <a:lstStyle/>
          <a:p>
            <a:endParaRPr lang="en-US"/>
          </a:p>
        </p:txBody>
      </p:sp>
      <p:sp>
        <p:nvSpPr>
          <p:cNvPr id="11" name="Text 9"/>
          <p:cNvSpPr/>
          <p:nvPr/>
        </p:nvSpPr>
        <p:spPr>
          <a:xfrm>
            <a:off x="1051560" y="3200400"/>
            <a:ext cx="3200400" cy="45720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Cost-blind threshold</a:t>
            </a:r>
            <a:endParaRPr lang="en-US" sz="1150" dirty="0"/>
          </a:p>
        </p:txBody>
      </p:sp>
      <p:sp>
        <p:nvSpPr>
          <p:cNvPr id="12" name="Text 10"/>
          <p:cNvSpPr/>
          <p:nvPr/>
        </p:nvSpPr>
        <p:spPr>
          <a:xfrm>
            <a:off x="4343400" y="3200400"/>
            <a:ext cx="7178040" cy="566928"/>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F1 treats both errors as equal. With real customer lifetime value and voucher cost, the threshold should minimise expected cost instead.</a:t>
            </a:r>
            <a:endParaRPr lang="en-US" sz="1000" dirty="0"/>
          </a:p>
        </p:txBody>
      </p:sp>
      <p:sp>
        <p:nvSpPr>
          <p:cNvPr id="13" name="Shape 11"/>
          <p:cNvSpPr/>
          <p:nvPr/>
        </p:nvSpPr>
        <p:spPr>
          <a:xfrm>
            <a:off x="658368" y="4014216"/>
            <a:ext cx="237744" cy="237744"/>
          </a:xfrm>
          <a:prstGeom prst="ellipse">
            <a:avLst/>
          </a:prstGeom>
          <a:solidFill>
            <a:srgbClr val="D9A404"/>
          </a:solidFill>
          <a:ln/>
        </p:spPr>
        <p:txBody>
          <a:bodyPr/>
          <a:lstStyle/>
          <a:p>
            <a:endParaRPr lang="en-US"/>
          </a:p>
        </p:txBody>
      </p:sp>
      <p:sp>
        <p:nvSpPr>
          <p:cNvPr id="14" name="Text 12"/>
          <p:cNvSpPr/>
          <p:nvPr/>
        </p:nvSpPr>
        <p:spPr>
          <a:xfrm>
            <a:off x="1051560" y="3922776"/>
            <a:ext cx="3200400" cy="45720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Random Forest was not a decisive win</a:t>
            </a:r>
            <a:endParaRPr lang="en-US" sz="1150" dirty="0"/>
          </a:p>
        </p:txBody>
      </p:sp>
      <p:sp>
        <p:nvSpPr>
          <p:cNvPr id="15" name="Text 13"/>
          <p:cNvSpPr/>
          <p:nvPr/>
        </p:nvSpPr>
        <p:spPr>
          <a:xfrm>
            <a:off x="4343400" y="3922776"/>
            <a:ext cx="7178040" cy="566928"/>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Logistic regression matched it on AUC. Gradient boosting typically edges out both on tabular data and handles missing values natively.</a:t>
            </a:r>
            <a:endParaRPr lang="en-US" sz="1000" dirty="0"/>
          </a:p>
        </p:txBody>
      </p:sp>
      <p:sp>
        <p:nvSpPr>
          <p:cNvPr id="16" name="Shape 14"/>
          <p:cNvSpPr/>
          <p:nvPr/>
        </p:nvSpPr>
        <p:spPr>
          <a:xfrm>
            <a:off x="658368" y="4736592"/>
            <a:ext cx="237744" cy="237744"/>
          </a:xfrm>
          <a:prstGeom prst="ellipse">
            <a:avLst/>
          </a:prstGeom>
          <a:solidFill>
            <a:srgbClr val="D9A404"/>
          </a:solidFill>
          <a:ln/>
        </p:spPr>
        <p:txBody>
          <a:bodyPr/>
          <a:lstStyle/>
          <a:p>
            <a:endParaRPr lang="en-US"/>
          </a:p>
        </p:txBody>
      </p:sp>
      <p:sp>
        <p:nvSpPr>
          <p:cNvPr id="17" name="Text 15"/>
          <p:cNvSpPr/>
          <p:nvPr/>
        </p:nvSpPr>
        <p:spPr>
          <a:xfrm>
            <a:off x="1051560" y="4645152"/>
            <a:ext cx="3200400" cy="45720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A sessionisation gap I could not close</a:t>
            </a:r>
            <a:endParaRPr lang="en-US" sz="1150" dirty="0"/>
          </a:p>
        </p:txBody>
      </p:sp>
      <p:sp>
        <p:nvSpPr>
          <p:cNvPr id="18" name="Text 16"/>
          <p:cNvSpPr/>
          <p:nvPr/>
        </p:nvSpPr>
        <p:spPr>
          <a:xfrm>
            <a:off x="4343400" y="4645152"/>
            <a:ext cx="7178040" cy="566928"/>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Session-level funnel metrics are unmeasurable on this data. I reported the customer-level figure and flagged the gap rather than quoting a number I do not trust.</a:t>
            </a:r>
            <a:endParaRPr lang="en-US" sz="1000" dirty="0"/>
          </a:p>
        </p:txBody>
      </p:sp>
      <p:sp>
        <p:nvSpPr>
          <p:cNvPr id="19" name="Shape 17"/>
          <p:cNvSpPr/>
          <p:nvPr/>
        </p:nvSpPr>
        <p:spPr>
          <a:xfrm>
            <a:off x="658368" y="5458968"/>
            <a:ext cx="237744" cy="237744"/>
          </a:xfrm>
          <a:prstGeom prst="ellipse">
            <a:avLst/>
          </a:prstGeom>
          <a:solidFill>
            <a:srgbClr val="D9A404"/>
          </a:solidFill>
          <a:ln/>
        </p:spPr>
        <p:txBody>
          <a:bodyPr/>
          <a:lstStyle/>
          <a:p>
            <a:endParaRPr lang="en-US"/>
          </a:p>
        </p:txBody>
      </p:sp>
      <p:sp>
        <p:nvSpPr>
          <p:cNvPr id="20" name="Text 18"/>
          <p:cNvSpPr/>
          <p:nvPr/>
        </p:nvSpPr>
        <p:spPr>
          <a:xfrm>
            <a:off x="1051560" y="5367528"/>
            <a:ext cx="3200400" cy="457200"/>
          </a:xfrm>
          <a:prstGeom prst="rect">
            <a:avLst/>
          </a:prstGeom>
          <a:noFill/>
          <a:ln/>
        </p:spPr>
        <p:txBody>
          <a:bodyPr wrap="square" lIns="0" tIns="0" rIns="0" bIns="0" rtlCol="0" anchor="ctr"/>
          <a:lstStyle/>
          <a:p>
            <a:pPr marL="0" indent="0">
              <a:buNone/>
            </a:pPr>
            <a:r>
              <a:rPr lang="en-US" sz="1150" b="1" dirty="0">
                <a:solidFill>
                  <a:srgbClr val="10333A"/>
                </a:solidFill>
                <a:latin typeface="Calibri" pitchFamily="34" charset="0"/>
                <a:ea typeface="Calibri" pitchFamily="34" charset="-122"/>
                <a:cs typeface="Calibri" pitchFamily="34" charset="-120"/>
              </a:rPr>
              <a:t>No text modelling</a:t>
            </a:r>
            <a:endParaRPr lang="en-US" sz="1150" dirty="0"/>
          </a:p>
        </p:txBody>
      </p:sp>
      <p:sp>
        <p:nvSpPr>
          <p:cNvPr id="21" name="Text 19"/>
          <p:cNvSpPr/>
          <p:nvPr/>
        </p:nvSpPr>
        <p:spPr>
          <a:xfrm>
            <a:off x="4343400" y="5367528"/>
            <a:ext cx="7178040" cy="566928"/>
          </a:xfrm>
          <a:prstGeom prst="rect">
            <a:avLst/>
          </a:prstGeom>
          <a:noFill/>
          <a:ln/>
        </p:spPr>
        <p:txBody>
          <a:bodyPr wrap="square" lIns="0" tIns="0" rIns="0" bIns="0" rtlCol="0" anchor="ctr"/>
          <a:lstStyle/>
          <a:p>
            <a:pPr marL="0" indent="0">
              <a:buNone/>
            </a:pPr>
            <a:r>
              <a:rPr lang="en-US" sz="1000" dirty="0">
                <a:solidFill>
                  <a:srgbClr val="4A6670"/>
                </a:solidFill>
                <a:latin typeface="Calibri" pitchFamily="34" charset="0"/>
                <a:ea typeface="Calibri" pitchFamily="34" charset="-122"/>
                <a:cs typeface="Calibri" pitchFamily="34" charset="-120"/>
              </a:rPr>
              <a:t>Review text is untouched. Sentiment features and a market-basket recommender are the clearest unexploited signal.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333A"/>
        </a:solidFill>
        <a:effectLst/>
      </p:bgPr>
    </p:bg>
    <p:spTree>
      <p:nvGrpSpPr>
        <p:cNvPr id="1" name=""/>
        <p:cNvGrpSpPr/>
        <p:nvPr/>
      </p:nvGrpSpPr>
      <p:grpSpPr>
        <a:xfrm>
          <a:off x="0" y="0"/>
          <a:ext cx="0" cy="0"/>
          <a:chOff x="0" y="0"/>
          <a:chExt cx="0" cy="0"/>
        </a:xfrm>
      </p:grpSpPr>
      <p:sp>
        <p:nvSpPr>
          <p:cNvPr id="4" name="Text 2"/>
          <p:cNvSpPr/>
          <p:nvPr/>
        </p:nvSpPr>
        <p:spPr>
          <a:xfrm>
            <a:off x="822960" y="1371600"/>
            <a:ext cx="10515600" cy="54864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The through-line</a:t>
            </a:r>
            <a:endParaRPr lang="en-US" sz="3100" dirty="0"/>
          </a:p>
        </p:txBody>
      </p:sp>
      <p:sp>
        <p:nvSpPr>
          <p:cNvPr id="5" name="Text 3"/>
          <p:cNvSpPr/>
          <p:nvPr/>
        </p:nvSpPr>
        <p:spPr>
          <a:xfrm>
            <a:off x="822960" y="2057400"/>
            <a:ext cx="10515600" cy="457200"/>
          </a:xfrm>
          <a:prstGeom prst="rect">
            <a:avLst/>
          </a:prstGeom>
          <a:noFill/>
          <a:ln/>
        </p:spPr>
        <p:txBody>
          <a:bodyPr wrap="square" lIns="0" tIns="0" rIns="0" bIns="0" rtlCol="0" anchor="ctr"/>
          <a:lstStyle/>
          <a:p>
            <a:pPr marL="0" indent="0">
              <a:buNone/>
            </a:pPr>
            <a:r>
              <a:rPr lang="en-US" sz="1350" dirty="0">
                <a:solidFill>
                  <a:srgbClr val="02C39A"/>
                </a:solidFill>
                <a:latin typeface="Calibri" pitchFamily="34" charset="0"/>
                <a:ea typeface="Calibri" pitchFamily="34" charset="-122"/>
                <a:cs typeface="Calibri" pitchFamily="34" charset="-120"/>
              </a:rPr>
              <a:t>Clean rigorously  →  engineer without leakage  →  validate honestly  →  select to ship  →  translate to action</a:t>
            </a:r>
            <a:endParaRPr lang="en-US" sz="1350" dirty="0"/>
          </a:p>
        </p:txBody>
      </p:sp>
      <p:sp>
        <p:nvSpPr>
          <p:cNvPr id="6" name="Text 4"/>
          <p:cNvSpPr/>
          <p:nvPr/>
        </p:nvSpPr>
        <p:spPr>
          <a:xfrm>
            <a:off x="822960" y="2971800"/>
            <a:ext cx="256032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867,265</a:t>
            </a:r>
            <a:endParaRPr lang="en-US" sz="3400" dirty="0"/>
          </a:p>
        </p:txBody>
      </p:sp>
      <p:sp>
        <p:nvSpPr>
          <p:cNvPr id="7" name="Text 5"/>
          <p:cNvSpPr/>
          <p:nvPr/>
        </p:nvSpPr>
        <p:spPr>
          <a:xfrm>
            <a:off x="822960" y="3703320"/>
            <a:ext cx="2560320" cy="320040"/>
          </a:xfrm>
          <a:prstGeom prst="rect">
            <a:avLst/>
          </a:prstGeom>
          <a:noFill/>
          <a:ln/>
        </p:spPr>
        <p:txBody>
          <a:bodyPr wrap="square" lIns="0" tIns="0" rIns="0" bIns="0" rtlCol="0" anchor="ctr"/>
          <a:lstStyle/>
          <a:p>
            <a:pPr marL="0" indent="0">
              <a:buNone/>
            </a:pPr>
            <a:r>
              <a:rPr lang="en-US" sz="1100" dirty="0">
                <a:solidFill>
                  <a:srgbClr val="8FB3B8"/>
                </a:solidFill>
                <a:latin typeface="Calibri" pitchFamily="34" charset="0"/>
                <a:ea typeface="Calibri" pitchFamily="34" charset="-122"/>
                <a:cs typeface="Calibri" pitchFamily="34" charset="-120"/>
              </a:rPr>
              <a:t>records cleaned</a:t>
            </a:r>
            <a:endParaRPr lang="en-US" sz="1100" dirty="0"/>
          </a:p>
        </p:txBody>
      </p:sp>
      <p:sp>
        <p:nvSpPr>
          <p:cNvPr id="8" name="Text 6"/>
          <p:cNvSpPr/>
          <p:nvPr/>
        </p:nvSpPr>
        <p:spPr>
          <a:xfrm>
            <a:off x="3566160" y="2971800"/>
            <a:ext cx="256032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98 → 28</a:t>
            </a:r>
            <a:endParaRPr lang="en-US" sz="3400" dirty="0"/>
          </a:p>
        </p:txBody>
      </p:sp>
      <p:sp>
        <p:nvSpPr>
          <p:cNvPr id="9" name="Text 7"/>
          <p:cNvSpPr/>
          <p:nvPr/>
        </p:nvSpPr>
        <p:spPr>
          <a:xfrm>
            <a:off x="3566160" y="3703320"/>
            <a:ext cx="2560320" cy="320040"/>
          </a:xfrm>
          <a:prstGeom prst="rect">
            <a:avLst/>
          </a:prstGeom>
          <a:noFill/>
          <a:ln/>
        </p:spPr>
        <p:txBody>
          <a:bodyPr wrap="square" lIns="0" tIns="0" rIns="0" bIns="0" rtlCol="0" anchor="ctr"/>
          <a:lstStyle/>
          <a:p>
            <a:pPr marL="0" indent="0">
              <a:buNone/>
            </a:pPr>
            <a:r>
              <a:rPr lang="en-US" sz="1100" dirty="0">
                <a:solidFill>
                  <a:srgbClr val="8FB3B8"/>
                </a:solidFill>
                <a:latin typeface="Calibri" pitchFamily="34" charset="0"/>
                <a:ea typeface="Calibri" pitchFamily="34" charset="-122"/>
                <a:cs typeface="Calibri" pitchFamily="34" charset="-120"/>
              </a:rPr>
              <a:t>features, no loss</a:t>
            </a:r>
            <a:endParaRPr lang="en-US" sz="1100" dirty="0"/>
          </a:p>
        </p:txBody>
      </p:sp>
      <p:sp>
        <p:nvSpPr>
          <p:cNvPr id="10" name="Text 8"/>
          <p:cNvSpPr/>
          <p:nvPr/>
        </p:nvSpPr>
        <p:spPr>
          <a:xfrm>
            <a:off x="6309360" y="2971800"/>
            <a:ext cx="256032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0.849</a:t>
            </a:r>
            <a:endParaRPr lang="en-US" sz="3400" dirty="0"/>
          </a:p>
        </p:txBody>
      </p:sp>
      <p:sp>
        <p:nvSpPr>
          <p:cNvPr id="11" name="Text 9"/>
          <p:cNvSpPr/>
          <p:nvPr/>
        </p:nvSpPr>
        <p:spPr>
          <a:xfrm>
            <a:off x="6309360" y="3703320"/>
            <a:ext cx="2560320" cy="320040"/>
          </a:xfrm>
          <a:prstGeom prst="rect">
            <a:avLst/>
          </a:prstGeom>
          <a:noFill/>
          <a:ln/>
        </p:spPr>
        <p:txBody>
          <a:bodyPr wrap="square" lIns="0" tIns="0" rIns="0" bIns="0" rtlCol="0" anchor="ctr"/>
          <a:lstStyle/>
          <a:p>
            <a:pPr marL="0" indent="0">
              <a:buNone/>
            </a:pPr>
            <a:r>
              <a:rPr lang="en-US" sz="1100" dirty="0">
                <a:solidFill>
                  <a:srgbClr val="8FB3B8"/>
                </a:solidFill>
                <a:latin typeface="Calibri" pitchFamily="34" charset="0"/>
                <a:ea typeface="Calibri" pitchFamily="34" charset="-122"/>
                <a:cs typeface="Calibri" pitchFamily="34" charset="-120"/>
              </a:rPr>
              <a:t>test ROC-AUC</a:t>
            </a:r>
            <a:endParaRPr lang="en-US" sz="1100" dirty="0"/>
          </a:p>
        </p:txBody>
      </p:sp>
      <p:sp>
        <p:nvSpPr>
          <p:cNvPr id="12" name="Text 10"/>
          <p:cNvSpPr/>
          <p:nvPr/>
        </p:nvSpPr>
        <p:spPr>
          <a:xfrm>
            <a:off x="9052560" y="2971800"/>
            <a:ext cx="256032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40,640</a:t>
            </a:r>
            <a:endParaRPr lang="en-US" sz="3400" dirty="0"/>
          </a:p>
        </p:txBody>
      </p:sp>
      <p:sp>
        <p:nvSpPr>
          <p:cNvPr id="13" name="Text 11"/>
          <p:cNvSpPr/>
          <p:nvPr/>
        </p:nvSpPr>
        <p:spPr>
          <a:xfrm>
            <a:off x="9052560" y="3703320"/>
            <a:ext cx="2560320" cy="320040"/>
          </a:xfrm>
          <a:prstGeom prst="rect">
            <a:avLst/>
          </a:prstGeom>
          <a:noFill/>
          <a:ln/>
        </p:spPr>
        <p:txBody>
          <a:bodyPr wrap="square" lIns="0" tIns="0" rIns="0" bIns="0" rtlCol="0" anchor="ctr"/>
          <a:lstStyle/>
          <a:p>
            <a:pPr marL="0" indent="0">
              <a:buNone/>
            </a:pPr>
            <a:r>
              <a:rPr lang="en-US" sz="1100" dirty="0">
                <a:solidFill>
                  <a:srgbClr val="8FB3B8"/>
                </a:solidFill>
                <a:latin typeface="Calibri" pitchFamily="34" charset="0"/>
                <a:ea typeface="Calibri" pitchFamily="34" charset="-122"/>
                <a:cs typeface="Calibri" pitchFamily="34" charset="-120"/>
              </a:rPr>
              <a:t>events streamed</a:t>
            </a:r>
            <a:endParaRPr lang="en-US" sz="1100" dirty="0"/>
          </a:p>
        </p:txBody>
      </p:sp>
      <p:sp>
        <p:nvSpPr>
          <p:cNvPr id="16" name="Text 14"/>
          <p:cNvSpPr/>
          <p:nvPr/>
        </p:nvSpPr>
        <p:spPr>
          <a:xfrm>
            <a:off x="822960" y="5943600"/>
            <a:ext cx="10515600" cy="320040"/>
          </a:xfrm>
          <a:prstGeom prst="rect">
            <a:avLst/>
          </a:prstGeom>
          <a:noFill/>
          <a:ln/>
        </p:spPr>
        <p:txBody>
          <a:bodyPr wrap="square" lIns="0" tIns="0" rIns="0" bIns="0" rtlCol="0" anchor="ctr"/>
          <a:lstStyle/>
          <a:p>
            <a:pPr marL="0" indent="0">
              <a:buNone/>
            </a:pPr>
            <a:r>
              <a:rPr lang="en-US" sz="1050" dirty="0">
                <a:solidFill>
                  <a:srgbClr val="6E9098"/>
                </a:solidFill>
                <a:latin typeface="Calibri" pitchFamily="34" charset="0"/>
                <a:ea typeface="Calibri" pitchFamily="34" charset="-122"/>
                <a:cs typeface="Calibri" pitchFamily="34" charset="-120"/>
              </a:rPr>
              <a:t>Harrison Nana Kwaku Agyako  ·  Npontu Technologies Technical Assignment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2107</Words>
  <Application>Microsoft Office PowerPoint</Application>
  <PresentationFormat>Widescreen</PresentationFormat>
  <Paragraphs>277</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Customer Behaviour for E-commerce Insights</dc:title>
  <dc:subject>PptxGenJS Presentation</dc:subject>
  <dc:creator>Harrison Nana Kwaku Agyako</dc:creator>
  <cp:lastModifiedBy>Harrison Nana Kwaku Agyako</cp:lastModifiedBy>
  <cp:revision>2</cp:revision>
  <dcterms:created xsi:type="dcterms:W3CDTF">2026-08-01T20:36:54Z</dcterms:created>
  <dcterms:modified xsi:type="dcterms:W3CDTF">2026-08-01T21:04:40Z</dcterms:modified>
</cp:coreProperties>
</file>